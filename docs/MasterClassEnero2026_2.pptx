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2"/>
  </p:sldMasterIdLst>
  <p:notesMasterIdLst>
    <p:notesMasterId r:id="rId15"/>
  </p:notesMasterIdLst>
  <p:sldIdLst>
    <p:sldId id="256" r:id="rId3"/>
    <p:sldId id="265" r:id="rId4"/>
    <p:sldId id="272" r:id="rId5"/>
    <p:sldId id="259" r:id="rId6"/>
    <p:sldId id="258" r:id="rId7"/>
    <p:sldId id="262" r:id="rId8"/>
    <p:sldId id="260" r:id="rId9"/>
    <p:sldId id="273" r:id="rId10"/>
    <p:sldId id="274" r:id="rId11"/>
    <p:sldId id="275" r:id="rId12"/>
    <p:sldId id="267" r:id="rId13"/>
    <p:sldId id="264"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gsjkNSa1OhYGczPVBggKtVNdEk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671" autoAdjust="0"/>
  </p:normalViewPr>
  <p:slideViewPr>
    <p:cSldViewPr snapToGrid="0">
      <p:cViewPr varScale="1">
        <p:scale>
          <a:sx n="73" d="100"/>
          <a:sy n="73" d="100"/>
        </p:scale>
        <p:origin x="19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4C13F466-2455-473F-61AA-60BB67330E46}"/>
            </a:ext>
          </a:extLst>
        </p:cNvPr>
        <p:cNvGrpSpPr/>
        <p:nvPr/>
      </p:nvGrpSpPr>
      <p:grpSpPr>
        <a:xfrm>
          <a:off x="0" y="0"/>
          <a:ext cx="0" cy="0"/>
          <a:chOff x="0" y="0"/>
          <a:chExt cx="0" cy="0"/>
        </a:xfrm>
      </p:grpSpPr>
      <p:sp>
        <p:nvSpPr>
          <p:cNvPr id="119" name="Google Shape;119;p5:notes">
            <a:extLst>
              <a:ext uri="{FF2B5EF4-FFF2-40B4-BE49-F238E27FC236}">
                <a16:creationId xmlns:a16="http://schemas.microsoft.com/office/drawing/2014/main" id="{658675F1-ED38-65BB-9124-A7254F95AD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15950" lvl="1" indent="0">
              <a:buNone/>
            </a:pPr>
            <a:r>
              <a:rPr lang="es-MX" sz="1200" dirty="0"/>
              <a:t>Profesor: (UTM / ITESM / Anáhuac)</a:t>
            </a:r>
          </a:p>
          <a:p>
            <a:pPr marL="615950" lvl="1" indent="0">
              <a:buNone/>
            </a:pPr>
            <a:r>
              <a:rPr lang="es-MX" sz="1200" dirty="0"/>
              <a:t>Materias: Análisis y diseño de algoritmos / Lenguajes y autómatas / Matemáticas discretas / Matemáticas computacionales / Estructuras de datos / Programación (Java, C, C++, Python) / Bases de datos. </a:t>
            </a:r>
          </a:p>
          <a:p>
            <a:pPr marL="615950" lvl="1" indent="0">
              <a:buNone/>
            </a:pPr>
            <a:r>
              <a:rPr lang="es-MX" sz="1200" dirty="0"/>
              <a:t>Diplomados: Desarrollo de aplicaciones móviles (Java, </a:t>
            </a:r>
            <a:r>
              <a:rPr lang="es-MX" sz="1200" dirty="0" err="1"/>
              <a:t>Objective</a:t>
            </a:r>
            <a:r>
              <a:rPr lang="es-MX" sz="1200" dirty="0"/>
              <a:t> C, Swift) / Desarrollo de aplicaciones WEB (Java y Python) </a:t>
            </a:r>
          </a:p>
          <a:p>
            <a:pPr lvl="1"/>
            <a:endParaRPr lang="es-MX" sz="2000" dirty="0"/>
          </a:p>
          <a:p>
            <a:pPr marL="615950" lvl="1" indent="0">
              <a:buNone/>
            </a:pPr>
            <a:r>
              <a:rPr lang="es-MX" sz="2000" dirty="0" err="1"/>
              <a:t>TruEffort</a:t>
            </a:r>
            <a:r>
              <a:rPr lang="es-MX" sz="2000" dirty="0"/>
              <a:t>: Desarrollo en la nube – “Microservicios”</a:t>
            </a:r>
          </a:p>
          <a:p>
            <a:pPr marL="615950" lvl="1" indent="0">
              <a:buNone/>
            </a:pPr>
            <a:r>
              <a:rPr lang="es-MX" sz="2000" dirty="0"/>
              <a:t>	</a:t>
            </a:r>
            <a:r>
              <a:rPr lang="es-MX" dirty="0"/>
              <a:t>AWS / Java (</a:t>
            </a:r>
            <a:r>
              <a:rPr lang="es-MX" dirty="0" err="1"/>
              <a:t>spring</a:t>
            </a:r>
            <a:r>
              <a:rPr lang="es-MX" dirty="0"/>
              <a:t>) / Python (</a:t>
            </a:r>
            <a:r>
              <a:rPr lang="es-MX" dirty="0" err="1"/>
              <a:t>django</a:t>
            </a:r>
            <a:r>
              <a:rPr lang="es-MX" dirty="0"/>
              <a:t>) / JS (</a:t>
            </a:r>
            <a:r>
              <a:rPr lang="es-MX" dirty="0" err="1"/>
              <a:t>React</a:t>
            </a:r>
            <a:r>
              <a:rPr lang="es-MX" dirty="0"/>
              <a:t>) </a:t>
            </a:r>
          </a:p>
          <a:p>
            <a:pPr marL="615950" lvl="1" indent="0">
              <a:buNone/>
            </a:pPr>
            <a:r>
              <a:rPr lang="es-MX" dirty="0"/>
              <a:t>Banxico: </a:t>
            </a:r>
          </a:p>
          <a:p>
            <a:pPr lvl="1"/>
            <a:r>
              <a:rPr lang="es-MX" sz="1200" dirty="0"/>
              <a:t>Proyectos de Desarrollo de Software: </a:t>
            </a:r>
            <a:r>
              <a:rPr lang="es-MX" sz="1200" dirty="0" err="1"/>
              <a:t>Standalone</a:t>
            </a:r>
            <a:r>
              <a:rPr lang="es-MX" sz="1200" dirty="0"/>
              <a:t>, Web y móviles</a:t>
            </a:r>
          </a:p>
          <a:p>
            <a:pPr lvl="1"/>
            <a:r>
              <a:rPr lang="es-MX" sz="1200" dirty="0"/>
              <a:t>Manufactura (Lean </a:t>
            </a:r>
            <a:r>
              <a:rPr lang="es-MX" sz="1200" dirty="0" err="1"/>
              <a:t>Manufacturing</a:t>
            </a:r>
            <a:r>
              <a:rPr lang="es-MX" sz="1200" dirty="0"/>
              <a:t> – SIX SIGMA) </a:t>
            </a:r>
          </a:p>
          <a:p>
            <a:pPr lvl="1"/>
            <a:r>
              <a:rPr lang="es-MX" sz="1200" dirty="0"/>
              <a:t>Investigador (Distribución de efectivo)</a:t>
            </a:r>
          </a:p>
          <a:p>
            <a:pPr marL="0" lvl="0" indent="0" algn="l" rtl="0">
              <a:spcBef>
                <a:spcPts val="0"/>
              </a:spcBef>
              <a:spcAft>
                <a:spcPts val="0"/>
              </a:spcAft>
              <a:buNone/>
            </a:pPr>
            <a:endParaRPr dirty="0"/>
          </a:p>
        </p:txBody>
      </p:sp>
      <p:sp>
        <p:nvSpPr>
          <p:cNvPr id="120" name="Google Shape;120;p5:notes">
            <a:extLst>
              <a:ext uri="{FF2B5EF4-FFF2-40B4-BE49-F238E27FC236}">
                <a16:creationId xmlns:a16="http://schemas.microsoft.com/office/drawing/2014/main" id="{0099DFEC-91F1-EC1C-DA1B-8868296DE4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2559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697777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MX" dirty="0"/>
              <a:t>COMUNIDAD</a:t>
            </a:r>
          </a:p>
          <a:p>
            <a:endParaRPr lang="es-MX" dirty="0"/>
          </a:p>
        </p:txBody>
      </p:sp>
      <p:sp>
        <p:nvSpPr>
          <p:cNvPr id="4" name="Marcador de número de diapositiva 3"/>
          <p:cNvSpPr>
            <a:spLocks noGrp="1"/>
          </p:cNvSpPr>
          <p:nvPr>
            <p:ph type="sldNum" sz="quarter" idx="5"/>
          </p:nvPr>
        </p:nvSpPr>
        <p:spPr/>
        <p:txBody>
          <a:bodyPr/>
          <a:lstStyle/>
          <a:p>
            <a:fld id="{26637146-D6E3-4250-90A3-31D911502D4D}" type="slidenum">
              <a:rPr lang="es-MX" smtClean="0"/>
              <a:t>4</a:t>
            </a:fld>
            <a:endParaRPr lang="es-MX"/>
          </a:p>
        </p:txBody>
      </p:sp>
    </p:spTree>
    <p:extLst>
      <p:ext uri="{BB962C8B-B14F-4D97-AF65-F5344CB8AC3E}">
        <p14:creationId xmlns:p14="http://schemas.microsoft.com/office/powerpoint/2010/main" val="1314668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MX" b="0" i="0" dirty="0">
                <a:solidFill>
                  <a:srgbClr val="374151"/>
                </a:solidFill>
                <a:effectLst/>
                <a:latin typeface="Söhne"/>
              </a:rPr>
              <a:t>Generalmente el desarrollador pierde el tiempo reinventando la rueda con el desarrollo de </a:t>
            </a:r>
            <a:r>
              <a:rPr lang="es-MX" b="0" i="0" dirty="0" err="1">
                <a:solidFill>
                  <a:srgbClr val="374151"/>
                </a:solidFill>
                <a:effectLst/>
                <a:latin typeface="Söhne"/>
              </a:rPr>
              <a:t>CRUDs</a:t>
            </a:r>
            <a:r>
              <a:rPr lang="es-MX" b="0" i="0" dirty="0">
                <a:solidFill>
                  <a:srgbClr val="374151"/>
                </a:solidFill>
                <a:effectLst/>
                <a:latin typeface="Söhne"/>
              </a:rPr>
              <a:t> para gestionar catálogos, usuarios y privilegios.</a:t>
            </a:r>
            <a:endParaRPr lang="es-MX" dirty="0"/>
          </a:p>
        </p:txBody>
      </p:sp>
      <p:sp>
        <p:nvSpPr>
          <p:cNvPr id="4" name="Marcador de número de diapositiva 3"/>
          <p:cNvSpPr>
            <a:spLocks noGrp="1"/>
          </p:cNvSpPr>
          <p:nvPr>
            <p:ph type="sldNum" sz="quarter" idx="5"/>
          </p:nvPr>
        </p:nvSpPr>
        <p:spPr/>
        <p:txBody>
          <a:bodyPr/>
          <a:lstStyle/>
          <a:p>
            <a:fld id="{26637146-D6E3-4250-90A3-31D911502D4D}" type="slidenum">
              <a:rPr lang="es-MX" smtClean="0"/>
              <a:t>5</a:t>
            </a:fld>
            <a:endParaRPr lang="es-MX"/>
          </a:p>
        </p:txBody>
      </p:sp>
    </p:spTree>
    <p:extLst>
      <p:ext uri="{BB962C8B-B14F-4D97-AF65-F5344CB8AC3E}">
        <p14:creationId xmlns:p14="http://schemas.microsoft.com/office/powerpoint/2010/main" val="1414183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MX" dirty="0"/>
              <a:t>El </a:t>
            </a:r>
            <a:r>
              <a:rPr lang="es-MX" dirty="0" err="1"/>
              <a:t>framework</a:t>
            </a:r>
            <a:r>
              <a:rPr lang="es-MX" dirty="0"/>
              <a:t> Django</a:t>
            </a:r>
          </a:p>
        </p:txBody>
      </p:sp>
      <p:sp>
        <p:nvSpPr>
          <p:cNvPr id="4" name="Marcador de número de diapositiva 3"/>
          <p:cNvSpPr>
            <a:spLocks noGrp="1"/>
          </p:cNvSpPr>
          <p:nvPr>
            <p:ph type="sldNum" sz="quarter" idx="5"/>
          </p:nvPr>
        </p:nvSpPr>
        <p:spPr/>
        <p:txBody>
          <a:bodyPr/>
          <a:lstStyle/>
          <a:p>
            <a:fld id="{26637146-D6E3-4250-90A3-31D911502D4D}" type="slidenum">
              <a:rPr lang="es-MX" smtClean="0"/>
              <a:t>6</a:t>
            </a:fld>
            <a:endParaRPr lang="es-MX"/>
          </a:p>
        </p:txBody>
      </p:sp>
    </p:spTree>
    <p:extLst>
      <p:ext uri="{BB962C8B-B14F-4D97-AF65-F5344CB8AC3E}">
        <p14:creationId xmlns:p14="http://schemas.microsoft.com/office/powerpoint/2010/main" val="979528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3691832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3036062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795210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MX" dirty="0"/>
              <a:t>DEMO</a:t>
            </a:r>
          </a:p>
        </p:txBody>
      </p:sp>
      <p:sp>
        <p:nvSpPr>
          <p:cNvPr id="4" name="Marcador de número de diapositiva 3"/>
          <p:cNvSpPr>
            <a:spLocks noGrp="1"/>
          </p:cNvSpPr>
          <p:nvPr>
            <p:ph type="sldNum" sz="quarter" idx="5"/>
          </p:nvPr>
        </p:nvSpPr>
        <p:spPr/>
        <p:txBody>
          <a:bodyPr/>
          <a:lstStyle/>
          <a:p>
            <a:fld id="{26637146-D6E3-4250-90A3-31D911502D4D}" type="slidenum">
              <a:rPr lang="es-MX" smtClean="0"/>
              <a:t>10</a:t>
            </a:fld>
            <a:endParaRPr lang="es-MX"/>
          </a:p>
        </p:txBody>
      </p:sp>
    </p:spTree>
    <p:extLst>
      <p:ext uri="{BB962C8B-B14F-4D97-AF65-F5344CB8AC3E}">
        <p14:creationId xmlns:p14="http://schemas.microsoft.com/office/powerpoint/2010/main" val="3181684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1009032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Verdana"/>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2"/>
        <p:cNvGrpSpPr/>
        <p:nvPr/>
      </p:nvGrpSpPr>
      <p:grpSpPr>
        <a:xfrm>
          <a:off x="0" y="0"/>
          <a:ext cx="0" cy="0"/>
          <a:chOff x="0" y="0"/>
          <a:chExt cx="0" cy="0"/>
        </a:xfrm>
      </p:grpSpPr>
      <p:sp>
        <p:nvSpPr>
          <p:cNvPr id="23" name="Google Shape;2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3"/>
        <p:cNvGrpSpPr/>
        <p:nvPr/>
      </p:nvGrpSpPr>
      <p:grpSpPr>
        <a:xfrm>
          <a:off x="0" y="0"/>
          <a:ext cx="0" cy="0"/>
          <a:chOff x="0" y="0"/>
          <a:chExt cx="0" cy="0"/>
        </a:xfrm>
      </p:grpSpPr>
      <p:sp>
        <p:nvSpPr>
          <p:cNvPr id="34" name="Google Shape;34;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9"/>
        <p:cNvGrpSpPr/>
        <p:nvPr/>
      </p:nvGrpSpPr>
      <p:grpSpPr>
        <a:xfrm>
          <a:off x="0" y="0"/>
          <a:ext cx="0" cy="0"/>
          <a:chOff x="0" y="0"/>
          <a:chExt cx="0" cy="0"/>
        </a:xfrm>
      </p:grpSpPr>
      <p:sp>
        <p:nvSpPr>
          <p:cNvPr id="40" name="Google Shape;40;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Verdana"/>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2" name="Google Shape;4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5"/>
        <p:cNvGrpSpPr/>
        <p:nvPr/>
      </p:nvGrpSpPr>
      <p:grpSpPr>
        <a:xfrm>
          <a:off x="0" y="0"/>
          <a:ext cx="0" cy="0"/>
          <a:chOff x="0" y="0"/>
          <a:chExt cx="0" cy="0"/>
        </a:xfrm>
      </p:grpSpPr>
      <p:sp>
        <p:nvSpPr>
          <p:cNvPr id="46" name="Google Shape;46;p1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Verdan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Verdan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6"/>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Verdana"/>
                <a:ea typeface="Verdana"/>
                <a:cs typeface="Verdana"/>
                <a:sym typeface="Verdana"/>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Verdana"/>
                <a:ea typeface="Verdana"/>
                <a:cs typeface="Verdana"/>
                <a:sym typeface="Verdana"/>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Verdana"/>
                <a:ea typeface="Verdana"/>
                <a:cs typeface="Verdana"/>
                <a:sym typeface="Verdana"/>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Verdana"/>
              <a:buNone/>
              <a:defRPr sz="4400" b="0" i="0" u="none" strike="noStrike" cap="non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Verdana"/>
                <a:ea typeface="Verdana"/>
                <a:cs typeface="Verdana"/>
                <a:sym typeface="Verdan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3" r:id="rId3"/>
    <p:sldLayoutId id="2147483654" r:id="rId4"/>
    <p:sldLayoutId id="2147483655" r:id="rId5"/>
    <p:sldLayoutId id="2147483656" r:id="rId6"/>
    <p:sldLayoutId id="2147483657" r:id="rId7"/>
    <p:sldLayoutId id="214748365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hyperlink" Target="https://pixabay.com/en/binary-one-null-ball-binary-code-208216/" TargetMode="External"/><Relationship Id="rId5" Type="http://schemas.openxmlformats.org/officeDocument/2006/relationships/image" Target="../media/image5.jpg"/><Relationship Id="rId4" Type="http://schemas.openxmlformats.org/officeDocument/2006/relationships/hyperlink" Target="https://en.wikiversity.org/wiki/Python_Concept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freepngimg.com/png/17184-time-png-clipart"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www.wired.it/play/cinema/2019/04/23/curiosita-personaggi-disney/"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pixabay.com/en/problem-analysis-solution-hand-67054/"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0.jpeg"/><Relationship Id="rId7" Type="http://schemas.openxmlformats.org/officeDocument/2006/relationships/hyperlink" Target="https://entretejidos.iconos.edu.mx/thesite/el-diseno-ajustable-como-una-propuesta-para-la-visualizacion-de-paginas-web-en-diferentes-dispositivos/"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www.pexels.com/photo/website-designer-company-usa-578314/" TargetMode="External"/><Relationship Id="rId9" Type="http://schemas.openxmlformats.org/officeDocument/2006/relationships/hyperlink" Target="https://www.knowledge7.com/2013/08/22/how-to-build-rich-internet-applications/"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servidor.codeandcoke.com/doku.php?id=apuntes:introduccion"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s://victorhckinthefreeworld.com/tag/gracias/"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854199"/>
            <a:ext cx="9144000" cy="2100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6000"/>
              <a:buFont typeface="Rockwell"/>
              <a:buNone/>
            </a:pPr>
            <a:r>
              <a:rPr lang="es-MX" b="1" dirty="0">
                <a:solidFill>
                  <a:schemeClr val="lt1"/>
                </a:solidFill>
                <a:latin typeface="Rockwell"/>
                <a:ea typeface="Rockwell"/>
                <a:cs typeface="Rockwell"/>
                <a:sym typeface="Rockwell"/>
              </a:rPr>
              <a:t>Master </a:t>
            </a:r>
            <a:r>
              <a:rPr lang="es-MX" b="1" dirty="0" err="1">
                <a:solidFill>
                  <a:schemeClr val="lt1"/>
                </a:solidFill>
                <a:latin typeface="Rockwell"/>
                <a:ea typeface="Rockwell"/>
                <a:cs typeface="Rockwell"/>
                <a:sym typeface="Rockwell"/>
              </a:rPr>
              <a:t>Class</a:t>
            </a:r>
            <a:endParaRPr b="1" dirty="0"/>
          </a:p>
        </p:txBody>
      </p:sp>
      <p:sp>
        <p:nvSpPr>
          <p:cNvPr id="85" name="Google Shape;85;p1"/>
          <p:cNvSpPr txBox="1">
            <a:spLocks noGrp="1"/>
          </p:cNvSpPr>
          <p:nvPr>
            <p:ph type="subTitle" idx="1"/>
          </p:nvPr>
        </p:nvSpPr>
        <p:spPr>
          <a:xfrm>
            <a:off x="1524000" y="3954162"/>
            <a:ext cx="9144000" cy="568411"/>
          </a:xfrm>
          <a:prstGeom prst="rect">
            <a:avLst/>
          </a:prstGeom>
          <a:noFill/>
          <a:ln>
            <a:noFill/>
          </a:ln>
        </p:spPr>
        <p:txBody>
          <a:bodyPr spcFirstLastPara="1" wrap="square" lIns="91425" tIns="45700" rIns="91425" bIns="45700" anchor="ctr" anchorCtr="0">
            <a:normAutofit/>
          </a:bodyPr>
          <a:lstStyle/>
          <a:p>
            <a:pPr marL="0" lvl="0" indent="0">
              <a:spcBef>
                <a:spcPts val="0"/>
              </a:spcBef>
              <a:buClr>
                <a:schemeClr val="lt1"/>
              </a:buClr>
              <a:buSzPts val="3200"/>
            </a:pPr>
            <a:r>
              <a:rPr lang="es-MX" dirty="0"/>
              <a:t>Django un recorrido práctico</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AFDF9B51-06BB-7BFC-1054-244EEEA031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21A215-1180-7A29-0378-A35B4020C47B}"/>
              </a:ext>
            </a:extLst>
          </p:cNvPr>
          <p:cNvSpPr>
            <a:spLocks noGrp="1"/>
          </p:cNvSpPr>
          <p:nvPr>
            <p:ph type="title"/>
          </p:nvPr>
        </p:nvSpPr>
        <p:spPr/>
        <p:txBody>
          <a:bodyPr/>
          <a:lstStyle/>
          <a:p>
            <a:r>
              <a:rPr lang="es-MX" dirty="0"/>
              <a:t>Presentación</a:t>
            </a:r>
          </a:p>
        </p:txBody>
      </p:sp>
      <p:sp>
        <p:nvSpPr>
          <p:cNvPr id="3" name="Marcador de texto 2">
            <a:extLst>
              <a:ext uri="{FF2B5EF4-FFF2-40B4-BE49-F238E27FC236}">
                <a16:creationId xmlns:a16="http://schemas.microsoft.com/office/drawing/2014/main" id="{902B342D-D738-39AC-D5C1-49EA52BA8769}"/>
              </a:ext>
            </a:extLst>
          </p:cNvPr>
          <p:cNvSpPr>
            <a:spLocks noGrp="1"/>
          </p:cNvSpPr>
          <p:nvPr>
            <p:ph type="body" idx="1"/>
          </p:nvPr>
        </p:nvSpPr>
        <p:spPr/>
        <p:txBody>
          <a:bodyPr/>
          <a:lstStyle/>
          <a:p>
            <a:r>
              <a:rPr lang="es-MX" dirty="0"/>
              <a:t>Ciencias Computacionales – Seguridad y Aplicaciones distribuidas</a:t>
            </a:r>
          </a:p>
          <a:p>
            <a:r>
              <a:rPr lang="es-MX" dirty="0"/>
              <a:t>Especialidad en Estadística y Data </a:t>
            </a:r>
            <a:r>
              <a:rPr lang="es-MX" dirty="0" err="1"/>
              <a:t>Science</a:t>
            </a:r>
            <a:endParaRPr lang="es-MX" dirty="0"/>
          </a:p>
          <a:p>
            <a:r>
              <a:rPr lang="es-MX" dirty="0"/>
              <a:t>Profesor de cátedra -2001</a:t>
            </a:r>
          </a:p>
          <a:p>
            <a:r>
              <a:rPr lang="es-MX" dirty="0"/>
              <a:t>Banco de México - 2002</a:t>
            </a:r>
          </a:p>
          <a:p>
            <a:r>
              <a:rPr lang="es-MX" dirty="0" err="1"/>
              <a:t>TruEffort</a:t>
            </a:r>
            <a:r>
              <a:rPr lang="es-MX" dirty="0"/>
              <a:t> – (Asesor - CTO) - 2022</a:t>
            </a:r>
          </a:p>
        </p:txBody>
      </p:sp>
    </p:spTree>
    <p:extLst>
      <p:ext uri="{BB962C8B-B14F-4D97-AF65-F5344CB8AC3E}">
        <p14:creationId xmlns:p14="http://schemas.microsoft.com/office/powerpoint/2010/main" val="1751049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76BFD4-C478-9FBF-C07C-F291198E60E7}"/>
              </a:ext>
            </a:extLst>
          </p:cNvPr>
          <p:cNvSpPr>
            <a:spLocks noGrp="1"/>
          </p:cNvSpPr>
          <p:nvPr>
            <p:ph type="title"/>
          </p:nvPr>
        </p:nvSpPr>
        <p:spPr>
          <a:xfrm>
            <a:off x="838201" y="365125"/>
            <a:ext cx="5251316" cy="1807305"/>
          </a:xfrm>
        </p:spPr>
        <p:txBody>
          <a:bodyPr>
            <a:normAutofit/>
          </a:bodyPr>
          <a:lstStyle/>
          <a:p>
            <a:r>
              <a:rPr lang="es-MX" dirty="0"/>
              <a:t>Agenda</a:t>
            </a:r>
          </a:p>
        </p:txBody>
      </p:sp>
      <p:sp>
        <p:nvSpPr>
          <p:cNvPr id="19" name="Marcador de contenido 2">
            <a:extLst>
              <a:ext uri="{FF2B5EF4-FFF2-40B4-BE49-F238E27FC236}">
                <a16:creationId xmlns:a16="http://schemas.microsoft.com/office/drawing/2014/main" id="{2109EC46-4322-E71E-6835-F571F16D4B72}"/>
              </a:ext>
            </a:extLst>
          </p:cNvPr>
          <p:cNvSpPr>
            <a:spLocks noGrp="1"/>
          </p:cNvSpPr>
          <p:nvPr>
            <p:ph idx="1"/>
          </p:nvPr>
        </p:nvSpPr>
        <p:spPr>
          <a:xfrm>
            <a:off x="838200" y="2333297"/>
            <a:ext cx="5257800" cy="3843666"/>
          </a:xfrm>
        </p:spPr>
        <p:txBody>
          <a:bodyPr>
            <a:normAutofit/>
          </a:bodyPr>
          <a:lstStyle/>
          <a:p>
            <a:r>
              <a:rPr lang="es-MX" sz="3200" dirty="0"/>
              <a:t>¿Por qué Python? </a:t>
            </a:r>
          </a:p>
          <a:p>
            <a:r>
              <a:rPr lang="es-MX" sz="3200" dirty="0"/>
              <a:t>¿Por qué Django? </a:t>
            </a:r>
          </a:p>
          <a:p>
            <a:r>
              <a:rPr lang="es-MX" sz="3200" dirty="0"/>
              <a:t>Framework</a:t>
            </a:r>
          </a:p>
          <a:p>
            <a:r>
              <a:rPr lang="es-MX" sz="3200" dirty="0"/>
              <a:t>Práctica</a:t>
            </a:r>
          </a:p>
        </p:txBody>
      </p:sp>
      <p:pic>
        <p:nvPicPr>
          <p:cNvPr id="5" name="Picture 4" descr="Script de ordenador en una pantalla">
            <a:extLst>
              <a:ext uri="{FF2B5EF4-FFF2-40B4-BE49-F238E27FC236}">
                <a16:creationId xmlns:a16="http://schemas.microsoft.com/office/drawing/2014/main" id="{8F7BF727-8810-0B01-3B9B-40C4EF520E6B}"/>
              </a:ext>
            </a:extLst>
          </p:cNvPr>
          <p:cNvPicPr>
            <a:picLocks noChangeAspect="1"/>
          </p:cNvPicPr>
          <p:nvPr/>
        </p:nvPicPr>
        <p:blipFill rotWithShape="1">
          <a:blip r:embed="rId3"/>
          <a:srcRect l="769" r="41194"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928272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B036C0DF-1E27-B804-07BA-8BB5F16437C5}"/>
              </a:ext>
            </a:extLst>
          </p:cNvPr>
          <p:cNvPicPr>
            <a:picLocks noChangeAspect="1"/>
          </p:cNvPicPr>
          <p:nvPr/>
        </p:nvPicPr>
        <p:blipFill rotWithShape="1">
          <a:blip r:embed="rId3">
            <a:alphaModFix amt="40000"/>
            <a:extLst>
              <a:ext uri="{837473B0-CC2E-450A-ABE3-18F120FF3D39}">
                <a1611:picAttrSrcUrl xmlns:a1611="http://schemas.microsoft.com/office/drawing/2016/11/main" r:id="rId4"/>
              </a:ext>
            </a:extLst>
          </a:blip>
          <a:srcRect t="9421" r="1" b="9423"/>
          <a:stretch/>
        </p:blipFill>
        <p:spPr>
          <a:xfrm>
            <a:off x="20" y="10"/>
            <a:ext cx="8450297" cy="6857990"/>
          </a:xfrm>
          <a:prstGeom prst="rect">
            <a:avLst/>
          </a:prstGeom>
        </p:spPr>
      </p:pic>
      <p:sp>
        <p:nvSpPr>
          <p:cNvPr id="2" name="Title 1">
            <a:extLst>
              <a:ext uri="{FF2B5EF4-FFF2-40B4-BE49-F238E27FC236}">
                <a16:creationId xmlns:a16="http://schemas.microsoft.com/office/drawing/2014/main" id="{D4965E00-009B-EC43-5E72-9C767015BC8A}"/>
              </a:ext>
            </a:extLst>
          </p:cNvPr>
          <p:cNvSpPr>
            <a:spLocks noGrp="1"/>
          </p:cNvSpPr>
          <p:nvPr>
            <p:ph type="title"/>
          </p:nvPr>
        </p:nvSpPr>
        <p:spPr>
          <a:xfrm>
            <a:off x="838201" y="365125"/>
            <a:ext cx="5251316" cy="1627636"/>
          </a:xfrm>
        </p:spPr>
        <p:txBody>
          <a:bodyPr>
            <a:normAutofit fontScale="90000"/>
          </a:bodyPr>
          <a:lstStyle/>
          <a:p>
            <a:r>
              <a:rPr lang="es-ES_tradnl" dirty="0">
                <a:solidFill>
                  <a:schemeClr val="tx1"/>
                </a:solidFill>
              </a:rPr>
              <a:t>¿Por qué “Python”?</a:t>
            </a:r>
            <a:br>
              <a:rPr lang="es-ES_tradnl" dirty="0">
                <a:solidFill>
                  <a:schemeClr val="tx1"/>
                </a:solidFill>
              </a:rPr>
            </a:br>
            <a:r>
              <a:rPr lang="es-ES_tradnl" dirty="0">
                <a:solidFill>
                  <a:schemeClr val="tx1"/>
                </a:solidFill>
              </a:rPr>
              <a:t>	</a:t>
            </a:r>
            <a:r>
              <a:rPr lang="es-ES_tradnl" dirty="0">
                <a:solidFill>
                  <a:schemeClr val="tx1"/>
                </a:solidFill>
                <a:sym typeface="Wingdings" panose="05000000000000000000" pitchFamily="2" charset="2"/>
              </a:rPr>
              <a:t> </a:t>
            </a:r>
            <a:r>
              <a:rPr lang="es-ES_tradnl" b="1" dirty="0">
                <a:solidFill>
                  <a:schemeClr val="tx1"/>
                </a:solidFill>
                <a:sym typeface="Wingdings" panose="05000000000000000000" pitchFamily="2" charset="2"/>
              </a:rPr>
              <a:t>Popular</a:t>
            </a:r>
            <a:endParaRPr lang="es-ES_tradnl" b="1" dirty="0">
              <a:solidFill>
                <a:schemeClr val="tx1"/>
              </a:solidFill>
            </a:endParaRPr>
          </a:p>
        </p:txBody>
      </p:sp>
      <p:sp>
        <p:nvSpPr>
          <p:cNvPr id="3" name="Content Placeholder 2">
            <a:extLst>
              <a:ext uri="{FF2B5EF4-FFF2-40B4-BE49-F238E27FC236}">
                <a16:creationId xmlns:a16="http://schemas.microsoft.com/office/drawing/2014/main" id="{6B6FF83B-96EB-49F7-54E4-2B5485EEB83B}"/>
              </a:ext>
            </a:extLst>
          </p:cNvPr>
          <p:cNvSpPr>
            <a:spLocks noGrp="1"/>
          </p:cNvSpPr>
          <p:nvPr>
            <p:ph idx="1"/>
          </p:nvPr>
        </p:nvSpPr>
        <p:spPr>
          <a:xfrm>
            <a:off x="838201" y="1729843"/>
            <a:ext cx="5962785" cy="4527266"/>
          </a:xfrm>
        </p:spPr>
        <p:txBody>
          <a:bodyPr>
            <a:normAutofit fontScale="92500" lnSpcReduction="20000"/>
          </a:bodyPr>
          <a:lstStyle/>
          <a:p>
            <a:pPr marL="457200" lvl="1" indent="0">
              <a:buNone/>
            </a:pPr>
            <a:endParaRPr lang="en-US" sz="2800" dirty="0">
              <a:solidFill>
                <a:srgbClr val="FFFFFF"/>
              </a:solidFill>
            </a:endParaRPr>
          </a:p>
          <a:p>
            <a:r>
              <a:rPr lang="en-US" dirty="0">
                <a:solidFill>
                  <a:schemeClr val="tx1"/>
                </a:solidFill>
              </a:rPr>
              <a:t>POO</a:t>
            </a:r>
          </a:p>
          <a:p>
            <a:r>
              <a:rPr lang="en-US" dirty="0" err="1">
                <a:solidFill>
                  <a:schemeClr val="tx1"/>
                </a:solidFill>
              </a:rPr>
              <a:t>Potente</a:t>
            </a:r>
            <a:r>
              <a:rPr lang="en-US" dirty="0">
                <a:solidFill>
                  <a:schemeClr val="tx1"/>
                </a:solidFill>
              </a:rPr>
              <a:t>, </a:t>
            </a:r>
            <a:r>
              <a:rPr lang="en-US" dirty="0" err="1">
                <a:solidFill>
                  <a:schemeClr val="tx1"/>
                </a:solidFill>
              </a:rPr>
              <a:t>versatil</a:t>
            </a:r>
            <a:r>
              <a:rPr lang="en-US" dirty="0">
                <a:solidFill>
                  <a:schemeClr val="tx1"/>
                </a:solidFill>
              </a:rPr>
              <a:t> y </a:t>
            </a:r>
            <a:r>
              <a:rPr lang="en-US" dirty="0" err="1">
                <a:solidFill>
                  <a:schemeClr val="tx1"/>
                </a:solidFill>
              </a:rPr>
              <a:t>ampliamente</a:t>
            </a:r>
            <a:r>
              <a:rPr lang="en-US" dirty="0">
                <a:solidFill>
                  <a:schemeClr val="tx1"/>
                </a:solidFill>
              </a:rPr>
              <a:t> </a:t>
            </a:r>
            <a:r>
              <a:rPr lang="en-US" dirty="0" err="1">
                <a:solidFill>
                  <a:schemeClr val="tx1"/>
                </a:solidFill>
              </a:rPr>
              <a:t>utilizado</a:t>
            </a:r>
            <a:endParaRPr lang="en-US" dirty="0">
              <a:solidFill>
                <a:schemeClr val="tx1"/>
              </a:solidFill>
            </a:endParaRPr>
          </a:p>
          <a:p>
            <a:pPr lvl="1"/>
            <a:r>
              <a:rPr lang="en-US" sz="2800" dirty="0">
                <a:solidFill>
                  <a:schemeClr val="tx1"/>
                </a:solidFill>
              </a:rPr>
              <a:t>Web, </a:t>
            </a:r>
            <a:r>
              <a:rPr lang="en-US" sz="2800" dirty="0" err="1">
                <a:solidFill>
                  <a:schemeClr val="tx1"/>
                </a:solidFill>
              </a:rPr>
              <a:t>DataScience</a:t>
            </a:r>
            <a:r>
              <a:rPr lang="en-US" sz="2800" dirty="0">
                <a:solidFill>
                  <a:schemeClr val="tx1"/>
                </a:solidFill>
              </a:rPr>
              <a:t> (ML)</a:t>
            </a:r>
          </a:p>
          <a:p>
            <a:pPr lvl="1"/>
            <a:r>
              <a:rPr lang="en-US" sz="2800" dirty="0" err="1">
                <a:solidFill>
                  <a:schemeClr val="tx1"/>
                </a:solidFill>
              </a:rPr>
              <a:t>Automatización</a:t>
            </a:r>
            <a:r>
              <a:rPr lang="en-US" sz="2800" dirty="0">
                <a:solidFill>
                  <a:schemeClr val="tx1"/>
                </a:solidFill>
              </a:rPr>
              <a:t>, Test, Security </a:t>
            </a:r>
          </a:p>
          <a:p>
            <a:pPr lvl="1"/>
            <a:r>
              <a:rPr lang="en-US" sz="2800" dirty="0">
                <a:solidFill>
                  <a:schemeClr val="tx1"/>
                </a:solidFill>
                <a:sym typeface="Wingdings" panose="05000000000000000000" pitchFamily="2" charset="2"/>
              </a:rPr>
              <a:t> </a:t>
            </a:r>
            <a:r>
              <a:rPr lang="en-US" sz="2800" dirty="0" err="1">
                <a:solidFill>
                  <a:schemeClr val="tx1"/>
                </a:solidFill>
                <a:sym typeface="Wingdings" panose="05000000000000000000" pitchFamily="2" charset="2"/>
              </a:rPr>
              <a:t>E</a:t>
            </a:r>
            <a:r>
              <a:rPr lang="en-US" sz="2800" dirty="0" err="1">
                <a:solidFill>
                  <a:schemeClr val="tx1"/>
                </a:solidFill>
              </a:rPr>
              <a:t>stándar</a:t>
            </a:r>
            <a:r>
              <a:rPr lang="en-US" sz="2800" dirty="0">
                <a:solidFill>
                  <a:schemeClr val="tx1"/>
                </a:solidFill>
              </a:rPr>
              <a:t> </a:t>
            </a:r>
          </a:p>
          <a:p>
            <a:r>
              <a:rPr lang="en-US" dirty="0" err="1">
                <a:solidFill>
                  <a:schemeClr val="tx1"/>
                </a:solidFill>
              </a:rPr>
              <a:t>Aplicaciones</a:t>
            </a:r>
            <a:r>
              <a:rPr lang="en-US" dirty="0">
                <a:solidFill>
                  <a:schemeClr val="tx1"/>
                </a:solidFill>
              </a:rPr>
              <a:t> </a:t>
            </a:r>
            <a:r>
              <a:rPr lang="en-US" dirty="0" err="1">
                <a:solidFill>
                  <a:schemeClr val="tx1"/>
                </a:solidFill>
              </a:rPr>
              <a:t>escalables</a:t>
            </a:r>
            <a:endParaRPr lang="en-US" dirty="0">
              <a:solidFill>
                <a:schemeClr val="tx1"/>
              </a:solidFill>
            </a:endParaRPr>
          </a:p>
          <a:p>
            <a:r>
              <a:rPr lang="en-US" dirty="0" err="1">
                <a:solidFill>
                  <a:schemeClr val="tx1"/>
                </a:solidFill>
              </a:rPr>
              <a:t>Curva</a:t>
            </a:r>
            <a:r>
              <a:rPr lang="en-US" dirty="0">
                <a:solidFill>
                  <a:schemeClr val="tx1"/>
                </a:solidFill>
              </a:rPr>
              <a:t> de </a:t>
            </a:r>
            <a:r>
              <a:rPr lang="en-US" dirty="0" err="1">
                <a:solidFill>
                  <a:schemeClr val="tx1"/>
                </a:solidFill>
              </a:rPr>
              <a:t>aprendizaje</a:t>
            </a:r>
            <a:r>
              <a:rPr lang="en-US" dirty="0">
                <a:solidFill>
                  <a:schemeClr val="tx1"/>
                </a:solidFill>
              </a:rPr>
              <a:t> </a:t>
            </a:r>
            <a:r>
              <a:rPr lang="en-US" dirty="0" err="1">
                <a:solidFill>
                  <a:schemeClr val="tx1"/>
                </a:solidFill>
              </a:rPr>
              <a:t>corta</a:t>
            </a:r>
            <a:endParaRPr lang="en-US" dirty="0">
              <a:solidFill>
                <a:schemeClr val="tx1"/>
              </a:solidFill>
            </a:endParaRPr>
          </a:p>
          <a:p>
            <a:r>
              <a:rPr lang="en-US" dirty="0">
                <a:solidFill>
                  <a:schemeClr val="tx1"/>
                </a:solidFill>
              </a:rPr>
              <a:t>Open source</a:t>
            </a:r>
          </a:p>
          <a:p>
            <a:r>
              <a:rPr lang="en-US" dirty="0">
                <a:solidFill>
                  <a:schemeClr val="tx1"/>
                </a:solidFill>
              </a:rPr>
              <a:t>Multi-</a:t>
            </a:r>
            <a:r>
              <a:rPr lang="en-US" dirty="0" err="1">
                <a:solidFill>
                  <a:schemeClr val="tx1"/>
                </a:solidFill>
              </a:rPr>
              <a:t>plataforma</a:t>
            </a:r>
            <a:endParaRPr lang="es-ES_tradnl" dirty="0">
              <a:solidFill>
                <a:schemeClr val="tx1"/>
              </a:solidFill>
            </a:endParaRPr>
          </a:p>
        </p:txBody>
      </p:sp>
      <p:pic>
        <p:nvPicPr>
          <p:cNvPr id="7" name="Imagen 6" descr="Interfaz de usuario gráfica, Texto, Aplicación, Chat o mensaje de texto&#10;&#10;Descripción generada automáticamente">
            <a:extLst>
              <a:ext uri="{FF2B5EF4-FFF2-40B4-BE49-F238E27FC236}">
                <a16:creationId xmlns:a16="http://schemas.microsoft.com/office/drawing/2014/main" id="{E4371C86-C768-12AE-ECA2-2531548BB417}"/>
              </a:ext>
            </a:extLst>
          </p:cNvPr>
          <p:cNvPicPr>
            <a:picLocks noChangeAspect="1"/>
          </p:cNvPicPr>
          <p:nvPr/>
        </p:nvPicPr>
        <p:blipFill rotWithShape="1">
          <a:blip r:embed="rId5">
            <a:extLst>
              <a:ext uri="{837473B0-CC2E-450A-ABE3-18F120FF3D39}">
                <a1611:picAttrSrcUrl xmlns:a1611="http://schemas.microsoft.com/office/drawing/2016/11/main" r:id="rId6"/>
              </a:ext>
            </a:extLst>
          </a:blip>
          <a:srcRect l="17849" r="15638" b="1"/>
          <a:stretch/>
        </p:blipFill>
        <p:spPr>
          <a:xfrm>
            <a:off x="6225997"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9" name="CuadroTexto 8">
            <a:extLst>
              <a:ext uri="{FF2B5EF4-FFF2-40B4-BE49-F238E27FC236}">
                <a16:creationId xmlns:a16="http://schemas.microsoft.com/office/drawing/2014/main" id="{30A989AB-3FFF-715A-7256-C623258A62EF}"/>
              </a:ext>
            </a:extLst>
          </p:cNvPr>
          <p:cNvSpPr txBox="1"/>
          <p:nvPr/>
        </p:nvSpPr>
        <p:spPr>
          <a:xfrm>
            <a:off x="6229215" y="5472995"/>
            <a:ext cx="5962785" cy="954107"/>
          </a:xfrm>
          <a:prstGeom prst="rect">
            <a:avLst/>
          </a:prstGeom>
          <a:solidFill>
            <a:schemeClr val="accent1">
              <a:lumMod val="50000"/>
            </a:schemeClr>
          </a:solidFill>
        </p:spPr>
        <p:txBody>
          <a:bodyPr wrap="square">
            <a:spAutoFit/>
          </a:bodyPr>
          <a:lstStyle/>
          <a:p>
            <a:pPr lvl="1"/>
            <a:r>
              <a:rPr lang="en-US" sz="2800" dirty="0">
                <a:solidFill>
                  <a:srgbClr val="00B0F0"/>
                </a:solidFill>
              </a:rPr>
              <a:t>https://www.tiobe.com/tiobe-index/</a:t>
            </a:r>
          </a:p>
          <a:p>
            <a:pPr lvl="1"/>
            <a:r>
              <a:rPr lang="en-US" sz="2800" dirty="0" err="1">
                <a:solidFill>
                  <a:srgbClr val="00B0F0"/>
                </a:solidFill>
              </a:rPr>
              <a:t>StackOverflow</a:t>
            </a:r>
            <a:endParaRPr lang="es-MX" sz="2800" dirty="0">
              <a:solidFill>
                <a:srgbClr val="00B0F0"/>
              </a:solidFill>
            </a:endParaRPr>
          </a:p>
        </p:txBody>
      </p:sp>
    </p:spTree>
    <p:extLst>
      <p:ext uri="{BB962C8B-B14F-4D97-AF65-F5344CB8AC3E}">
        <p14:creationId xmlns:p14="http://schemas.microsoft.com/office/powerpoint/2010/main" val="4272916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E5441-CA66-91B3-A532-73DE11485AA2}"/>
              </a:ext>
            </a:extLst>
          </p:cNvPr>
          <p:cNvSpPr>
            <a:spLocks noGrp="1"/>
          </p:cNvSpPr>
          <p:nvPr>
            <p:ph type="title"/>
          </p:nvPr>
        </p:nvSpPr>
        <p:spPr>
          <a:xfrm>
            <a:off x="5450197" y="377289"/>
            <a:ext cx="5754896" cy="821314"/>
          </a:xfrm>
        </p:spPr>
        <p:txBody>
          <a:bodyPr anchor="b">
            <a:normAutofit/>
          </a:bodyPr>
          <a:lstStyle/>
          <a:p>
            <a:r>
              <a:rPr lang="es-ES_tradnl" sz="4000" dirty="0"/>
              <a:t>¿Por qué Django?</a:t>
            </a:r>
          </a:p>
        </p:txBody>
      </p:sp>
      <p:pic>
        <p:nvPicPr>
          <p:cNvPr id="5" name="Picture 4" descr="A picture containing text&#10;&#10;Description automatically generated">
            <a:extLst>
              <a:ext uri="{FF2B5EF4-FFF2-40B4-BE49-F238E27FC236}">
                <a16:creationId xmlns:a16="http://schemas.microsoft.com/office/drawing/2014/main" id="{ACC7F3D1-44B4-8023-3986-B4D1843934D1}"/>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t="1513" r="4" b="4"/>
          <a:stretch/>
        </p:blipFill>
        <p:spPr>
          <a:xfrm>
            <a:off x="704923" y="1789611"/>
            <a:ext cx="3307590" cy="3438091"/>
          </a:xfrm>
          <a:prstGeom prst="rect">
            <a:avLst/>
          </a:prstGeom>
        </p:spPr>
      </p:pic>
      <p:sp>
        <p:nvSpPr>
          <p:cNvPr id="3" name="Content Placeholder 2">
            <a:extLst>
              <a:ext uri="{FF2B5EF4-FFF2-40B4-BE49-F238E27FC236}">
                <a16:creationId xmlns:a16="http://schemas.microsoft.com/office/drawing/2014/main" id="{6A8D503B-9145-DC2C-713A-C91FDE47595F}"/>
              </a:ext>
            </a:extLst>
          </p:cNvPr>
          <p:cNvSpPr>
            <a:spLocks noGrp="1"/>
          </p:cNvSpPr>
          <p:nvPr>
            <p:ph idx="1"/>
          </p:nvPr>
        </p:nvSpPr>
        <p:spPr>
          <a:xfrm>
            <a:off x="3921072" y="1642289"/>
            <a:ext cx="7566005" cy="4617720"/>
          </a:xfrm>
        </p:spPr>
        <p:txBody>
          <a:bodyPr anchor="t">
            <a:normAutofit fontScale="92500" lnSpcReduction="20000"/>
          </a:bodyPr>
          <a:lstStyle/>
          <a:p>
            <a:r>
              <a:rPr lang="es-ES_tradnl" b="1" u="sng" dirty="0"/>
              <a:t>Ahorro de tiempo</a:t>
            </a:r>
            <a:endParaRPr lang="es-ES_tradnl" dirty="0">
              <a:sym typeface="Wingdings" panose="05000000000000000000" pitchFamily="2" charset="2"/>
            </a:endParaRPr>
          </a:p>
          <a:p>
            <a:pPr lvl="1"/>
            <a:r>
              <a:rPr lang="es-MX" b="0" i="0" dirty="0">
                <a:solidFill>
                  <a:srgbClr val="374151"/>
                </a:solidFill>
                <a:effectLst/>
                <a:latin typeface="Söhne"/>
              </a:rPr>
              <a:t>Desarrollador </a:t>
            </a:r>
            <a:r>
              <a:rPr lang="es-MX" b="0" i="0" dirty="0">
                <a:solidFill>
                  <a:srgbClr val="374151"/>
                </a:solidFill>
                <a:effectLst/>
                <a:latin typeface="Söhne"/>
                <a:sym typeface="Wingdings" panose="05000000000000000000" pitchFamily="2" charset="2"/>
              </a:rPr>
              <a:t> </a:t>
            </a:r>
            <a:r>
              <a:rPr lang="es-MX" b="0" i="0" dirty="0">
                <a:solidFill>
                  <a:srgbClr val="374151"/>
                </a:solidFill>
                <a:effectLst/>
                <a:latin typeface="Söhne"/>
              </a:rPr>
              <a:t>creación de valor</a:t>
            </a:r>
            <a:r>
              <a:rPr lang="es-MX" dirty="0">
                <a:solidFill>
                  <a:srgbClr val="374151"/>
                </a:solidFill>
                <a:latin typeface="Söhne"/>
              </a:rPr>
              <a:t> </a:t>
            </a:r>
            <a:r>
              <a:rPr lang="es-MX" b="0" i="0" dirty="0">
                <a:solidFill>
                  <a:srgbClr val="374151"/>
                </a:solidFill>
                <a:effectLst/>
                <a:latin typeface="Söhne"/>
              </a:rPr>
              <a:t>"</a:t>
            </a:r>
            <a:r>
              <a:rPr lang="es-MX" b="0" i="0" dirty="0">
                <a:solidFill>
                  <a:srgbClr val="FF0000"/>
                </a:solidFill>
                <a:effectLst/>
                <a:latin typeface="Söhne"/>
              </a:rPr>
              <a:t>lógica del negocio</a:t>
            </a:r>
            <a:r>
              <a:rPr lang="es-MX" b="0" i="0" dirty="0">
                <a:solidFill>
                  <a:srgbClr val="374151"/>
                </a:solidFill>
                <a:effectLst/>
                <a:latin typeface="Söhne"/>
              </a:rPr>
              <a:t>“. </a:t>
            </a:r>
            <a:r>
              <a:rPr lang="es-MX" b="0" i="1" dirty="0">
                <a:solidFill>
                  <a:srgbClr val="374151"/>
                </a:solidFill>
                <a:effectLst/>
                <a:latin typeface="Söhne"/>
              </a:rPr>
              <a:t>¡Hay que dejar de "inventar el hilo negro" y liberar el potencial creativo para construir soluciones innovadoras y significativas!</a:t>
            </a:r>
            <a:endParaRPr lang="es-ES_tradnl" b="1" i="1" dirty="0"/>
          </a:p>
          <a:p>
            <a:r>
              <a:rPr lang="es-ES_tradnl" dirty="0">
                <a:sym typeface="Wingdings" panose="05000000000000000000" pitchFamily="2" charset="2"/>
              </a:rPr>
              <a:t>Framework para el desarrollo </a:t>
            </a:r>
            <a:r>
              <a:rPr lang="es-ES_tradnl" b="1" dirty="0">
                <a:sym typeface="Wingdings" panose="05000000000000000000" pitchFamily="2" charset="2"/>
              </a:rPr>
              <a:t>Web</a:t>
            </a:r>
            <a:r>
              <a:rPr lang="es-ES_tradnl" dirty="0">
                <a:sym typeface="Wingdings" panose="05000000000000000000" pitchFamily="2" charset="2"/>
              </a:rPr>
              <a:t> en Python </a:t>
            </a:r>
            <a:endParaRPr lang="es-ES_tradnl" dirty="0"/>
          </a:p>
          <a:p>
            <a:r>
              <a:rPr lang="es-ES_tradnl" dirty="0"/>
              <a:t>Versátil / Fácil de usar</a:t>
            </a:r>
          </a:p>
          <a:p>
            <a:r>
              <a:rPr lang="es-ES_tradnl" dirty="0"/>
              <a:t>Aplicaciones Web</a:t>
            </a:r>
          </a:p>
          <a:p>
            <a:pPr lvl="1"/>
            <a:r>
              <a:rPr lang="es-ES_tradnl" dirty="0"/>
              <a:t>Pequeñas y grandes / simples y complejas. </a:t>
            </a:r>
          </a:p>
          <a:p>
            <a:pPr lvl="1"/>
            <a:r>
              <a:rPr lang="es-ES_tradnl" b="1" dirty="0"/>
              <a:t>Eficientes</a:t>
            </a:r>
            <a:r>
              <a:rPr lang="es-ES_tradnl" dirty="0"/>
              <a:t> y </a:t>
            </a:r>
            <a:r>
              <a:rPr lang="es-ES_tradnl" b="1" dirty="0"/>
              <a:t>seguras</a:t>
            </a:r>
            <a:r>
              <a:rPr lang="es-ES_tradnl" dirty="0"/>
              <a:t> </a:t>
            </a:r>
            <a:endParaRPr lang="es-ES_tradnl" b="1" u="sng" dirty="0"/>
          </a:p>
          <a:p>
            <a:r>
              <a:rPr lang="es-ES_tradnl" dirty="0"/>
              <a:t>Django–</a:t>
            </a:r>
            <a:r>
              <a:rPr lang="es-ES_tradnl" dirty="0" err="1"/>
              <a:t>rest</a:t>
            </a:r>
            <a:r>
              <a:rPr lang="es-ES_tradnl" dirty="0"/>
              <a:t> Framework</a:t>
            </a:r>
          </a:p>
          <a:p>
            <a:pPr lvl="1"/>
            <a:r>
              <a:rPr lang="es-ES_tradnl" sz="2000" i="1" dirty="0"/>
              <a:t>Microservicios</a:t>
            </a:r>
          </a:p>
          <a:p>
            <a:pPr lvl="1"/>
            <a:r>
              <a:rPr lang="es-ES_tradnl" sz="2000" i="1" dirty="0"/>
              <a:t>Cómputo en la nube</a:t>
            </a:r>
          </a:p>
        </p:txBody>
      </p:sp>
    </p:spTree>
    <p:extLst>
      <p:ext uri="{BB962C8B-B14F-4D97-AF65-F5344CB8AC3E}">
        <p14:creationId xmlns:p14="http://schemas.microsoft.com/office/powerpoint/2010/main" val="2328532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AFD3AD-D296-4DCB-96ED-E213B60C202A}"/>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dirty="0" err="1">
                <a:solidFill>
                  <a:schemeClr val="tx1"/>
                </a:solidFill>
                <a:latin typeface="+mj-lt"/>
                <a:ea typeface="+mj-ea"/>
                <a:cs typeface="+mj-cs"/>
              </a:rPr>
              <a:t>Modelo</a:t>
            </a:r>
            <a:r>
              <a:rPr lang="en-US" sz="6600" kern="1200" dirty="0">
                <a:solidFill>
                  <a:schemeClr val="tx1"/>
                </a:solidFill>
                <a:latin typeface="+mj-lt"/>
                <a:ea typeface="+mj-ea"/>
                <a:cs typeface="+mj-cs"/>
              </a:rPr>
              <a:t> </a:t>
            </a:r>
            <a:r>
              <a:rPr lang="en-US" sz="6600" dirty="0"/>
              <a:t>– </a:t>
            </a:r>
            <a:r>
              <a:rPr lang="en-US" sz="6600" kern="1200" dirty="0">
                <a:solidFill>
                  <a:schemeClr val="tx1"/>
                </a:solidFill>
                <a:latin typeface="+mj-lt"/>
                <a:ea typeface="+mj-ea"/>
                <a:cs typeface="+mj-cs"/>
              </a:rPr>
              <a:t>Vista - Template</a:t>
            </a:r>
          </a:p>
        </p:txBody>
      </p:sp>
      <p:pic>
        <p:nvPicPr>
          <p:cNvPr id="5" name="Imagen 4">
            <a:extLst>
              <a:ext uri="{FF2B5EF4-FFF2-40B4-BE49-F238E27FC236}">
                <a16:creationId xmlns:a16="http://schemas.microsoft.com/office/drawing/2014/main" id="{B3D7E5FA-37E2-C58F-7DCF-6553F38E4B61}"/>
              </a:ext>
            </a:extLst>
          </p:cNvPr>
          <p:cNvPicPr>
            <a:picLocks noChangeAspect="1"/>
          </p:cNvPicPr>
          <p:nvPr/>
        </p:nvPicPr>
        <p:blipFill>
          <a:blip r:embed="rId3"/>
          <a:stretch>
            <a:fillRect/>
          </a:stretch>
        </p:blipFill>
        <p:spPr>
          <a:xfrm>
            <a:off x="809897" y="2175324"/>
            <a:ext cx="10523438" cy="2946562"/>
          </a:xfrm>
          <a:prstGeom prst="rect">
            <a:avLst/>
          </a:prstGeom>
        </p:spPr>
      </p:pic>
      <p:sp>
        <p:nvSpPr>
          <p:cNvPr id="4" name="CuadroTexto 3">
            <a:extLst>
              <a:ext uri="{FF2B5EF4-FFF2-40B4-BE49-F238E27FC236}">
                <a16:creationId xmlns:a16="http://schemas.microsoft.com/office/drawing/2014/main" id="{B82D8916-2571-8E95-5B5E-79311A451492}"/>
              </a:ext>
            </a:extLst>
          </p:cNvPr>
          <p:cNvSpPr txBox="1"/>
          <p:nvPr/>
        </p:nvSpPr>
        <p:spPr>
          <a:xfrm>
            <a:off x="809897" y="5168575"/>
            <a:ext cx="5842497" cy="923330"/>
          </a:xfrm>
          <a:prstGeom prst="rect">
            <a:avLst/>
          </a:prstGeom>
          <a:noFill/>
        </p:spPr>
        <p:txBody>
          <a:bodyPr wrap="none" rtlCol="0">
            <a:spAutoFit/>
          </a:bodyPr>
          <a:lstStyle/>
          <a:p>
            <a:r>
              <a:rPr lang="es-MX" dirty="0"/>
              <a:t>Vistas – Clases o funciones que atienden las peticiones HTTP</a:t>
            </a:r>
          </a:p>
          <a:p>
            <a:r>
              <a:rPr lang="es-MX" dirty="0"/>
              <a:t>Modelos – ORM (</a:t>
            </a:r>
            <a:r>
              <a:rPr lang="es-MX" dirty="0" err="1"/>
              <a:t>Object</a:t>
            </a:r>
            <a:r>
              <a:rPr lang="es-MX" dirty="0"/>
              <a:t> </a:t>
            </a:r>
            <a:r>
              <a:rPr lang="es-MX" dirty="0" err="1"/>
              <a:t>Relational</a:t>
            </a:r>
            <a:r>
              <a:rPr lang="es-MX" dirty="0"/>
              <a:t> </a:t>
            </a:r>
            <a:r>
              <a:rPr lang="es-MX" dirty="0" err="1"/>
              <a:t>Maping</a:t>
            </a:r>
            <a:r>
              <a:rPr lang="es-MX" dirty="0"/>
              <a:t>)</a:t>
            </a:r>
          </a:p>
          <a:p>
            <a:r>
              <a:rPr lang="es-MX" dirty="0" err="1"/>
              <a:t>Templates</a:t>
            </a:r>
            <a:r>
              <a:rPr lang="es-MX" dirty="0"/>
              <a:t> – HTML (plantillas) -&gt; Herencia -&gt; </a:t>
            </a:r>
            <a:r>
              <a:rPr lang="es-MX" dirty="0" err="1"/>
              <a:t>Template</a:t>
            </a:r>
            <a:r>
              <a:rPr lang="es-MX" dirty="0"/>
              <a:t> tags </a:t>
            </a:r>
          </a:p>
        </p:txBody>
      </p:sp>
      <p:sp>
        <p:nvSpPr>
          <p:cNvPr id="6" name="CuadroTexto 5">
            <a:extLst>
              <a:ext uri="{FF2B5EF4-FFF2-40B4-BE49-F238E27FC236}">
                <a16:creationId xmlns:a16="http://schemas.microsoft.com/office/drawing/2014/main" id="{C5243E78-6519-0EA4-61D1-2F5CEACF62FF}"/>
              </a:ext>
            </a:extLst>
          </p:cNvPr>
          <p:cNvSpPr txBox="1"/>
          <p:nvPr/>
        </p:nvSpPr>
        <p:spPr>
          <a:xfrm>
            <a:off x="7729480" y="5168575"/>
            <a:ext cx="3508310" cy="923330"/>
          </a:xfrm>
          <a:prstGeom prst="rect">
            <a:avLst/>
          </a:prstGeom>
          <a:noFill/>
        </p:spPr>
        <p:txBody>
          <a:bodyPr wrap="square" rtlCol="0">
            <a:spAutoFit/>
          </a:bodyPr>
          <a:lstStyle/>
          <a:p>
            <a:r>
              <a:rPr lang="es-MX" dirty="0"/>
              <a:t>Python – Django</a:t>
            </a:r>
          </a:p>
          <a:p>
            <a:r>
              <a:rPr lang="es-MX" dirty="0"/>
              <a:t>HTML – CSS – Bootstrap …  </a:t>
            </a:r>
          </a:p>
          <a:p>
            <a:r>
              <a:rPr lang="es-MX" dirty="0"/>
              <a:t>JavaScript (JQuery) … JSON, AJAX …</a:t>
            </a:r>
          </a:p>
        </p:txBody>
      </p:sp>
      <p:sp>
        <p:nvSpPr>
          <p:cNvPr id="7" name="Flecha: a la derecha 6">
            <a:extLst>
              <a:ext uri="{FF2B5EF4-FFF2-40B4-BE49-F238E27FC236}">
                <a16:creationId xmlns:a16="http://schemas.microsoft.com/office/drawing/2014/main" id="{F6A69430-3E7E-DA0B-5FCD-FD6A60618320}"/>
              </a:ext>
            </a:extLst>
          </p:cNvPr>
          <p:cNvSpPr/>
          <p:nvPr/>
        </p:nvSpPr>
        <p:spPr>
          <a:xfrm>
            <a:off x="6186030" y="5422547"/>
            <a:ext cx="839755" cy="7837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4103413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3E8EF-203B-AE23-CCF7-115CA26B1590}"/>
              </a:ext>
            </a:extLst>
          </p:cNvPr>
          <p:cNvSpPr>
            <a:spLocks noGrp="1"/>
          </p:cNvSpPr>
          <p:nvPr>
            <p:ph type="title"/>
          </p:nvPr>
        </p:nvSpPr>
        <p:spPr>
          <a:xfrm>
            <a:off x="838201" y="365125"/>
            <a:ext cx="5251316" cy="1127499"/>
          </a:xfrm>
        </p:spPr>
        <p:txBody>
          <a:bodyPr>
            <a:normAutofit fontScale="90000"/>
          </a:bodyPr>
          <a:lstStyle/>
          <a:p>
            <a:r>
              <a:rPr lang="es-ES_tradnl" dirty="0"/>
              <a:t>Historias de usuario</a:t>
            </a:r>
          </a:p>
        </p:txBody>
      </p:sp>
      <p:pic>
        <p:nvPicPr>
          <p:cNvPr id="11" name="Imagen 10" descr="Dibujo animado de un personaje animado&#10;&#10;Descripción generada automáticamente con confianza baja">
            <a:extLst>
              <a:ext uri="{FF2B5EF4-FFF2-40B4-BE49-F238E27FC236}">
                <a16:creationId xmlns:a16="http://schemas.microsoft.com/office/drawing/2014/main" id="{79CB3F0E-CCCA-349F-C432-59297AB0877D}"/>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28200" r="22893"/>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3" name="Content Placeholder 2">
            <a:extLst>
              <a:ext uri="{FF2B5EF4-FFF2-40B4-BE49-F238E27FC236}">
                <a16:creationId xmlns:a16="http://schemas.microsoft.com/office/drawing/2014/main" id="{DABB32DF-1F8F-A24A-35A1-A928E411AAD6}"/>
              </a:ext>
            </a:extLst>
          </p:cNvPr>
          <p:cNvSpPr>
            <a:spLocks noGrp="1"/>
          </p:cNvSpPr>
          <p:nvPr>
            <p:ph idx="1"/>
          </p:nvPr>
        </p:nvSpPr>
        <p:spPr>
          <a:xfrm>
            <a:off x="1149531" y="1393795"/>
            <a:ext cx="5251316" cy="4484492"/>
          </a:xfrm>
        </p:spPr>
        <p:txBody>
          <a:bodyPr>
            <a:normAutofit lnSpcReduction="10000"/>
          </a:bodyPr>
          <a:lstStyle/>
          <a:p>
            <a:pPr marL="0" indent="0">
              <a:buNone/>
            </a:pPr>
            <a:r>
              <a:rPr lang="es-MX" sz="1600" b="0" i="0" dirty="0">
                <a:solidFill>
                  <a:srgbClr val="374151"/>
                </a:solidFill>
                <a:effectLst/>
                <a:latin typeface="Söhne"/>
              </a:rPr>
              <a:t>"Estoy en búsqueda de una página web versátil, accesible tanto en computadoras como en dispositivos móviles. El enfoque primordial es impulsar la promoción de mi negocio, destacando una cartera completa de proyectos finalizados y algunos actualmente en desarrollo. Dada la diversidad de mis proyectos, busco un diseño profesional que refleje la visión única de mi negocio y proporcione una experiencia atractiva y coherente, adaptada tanto a la computadora de escritorio como al formato móvil.“</a:t>
            </a:r>
          </a:p>
          <a:p>
            <a:pPr algn="l">
              <a:buFont typeface="+mj-lt"/>
              <a:buAutoNum type="arabicPeriod"/>
            </a:pPr>
            <a:r>
              <a:rPr lang="es-MX" sz="1600" b="0" i="0" dirty="0">
                <a:solidFill>
                  <a:srgbClr val="374151"/>
                </a:solidFill>
                <a:effectLst/>
                <a:latin typeface="Söhne"/>
              </a:rPr>
              <a:t>Solo yo tengo la capacidad de modificar el contenido de los proyectos</a:t>
            </a:r>
            <a:r>
              <a:rPr lang="es-MX" sz="1600" dirty="0">
                <a:solidFill>
                  <a:srgbClr val="374151"/>
                </a:solidFill>
                <a:latin typeface="Söhne"/>
              </a:rPr>
              <a:t> (</a:t>
            </a:r>
            <a:r>
              <a:rPr lang="es-MX" sz="1600" b="0" i="0" dirty="0">
                <a:solidFill>
                  <a:srgbClr val="374151"/>
                </a:solidFill>
                <a:effectLst/>
                <a:latin typeface="Söhne"/>
              </a:rPr>
              <a:t>imágenes y textos )</a:t>
            </a:r>
          </a:p>
          <a:p>
            <a:pPr algn="l">
              <a:buFont typeface="+mj-lt"/>
              <a:buAutoNum type="arabicPeriod"/>
            </a:pPr>
            <a:r>
              <a:rPr lang="es-MX" sz="1600" b="0" i="0" dirty="0">
                <a:solidFill>
                  <a:srgbClr val="374151"/>
                </a:solidFill>
                <a:effectLst/>
                <a:latin typeface="Söhne"/>
              </a:rPr>
              <a:t>Mis proyectos incluyen una imagen representativa, el nombre del proyecto, un breve resumen y la fecha de realización. </a:t>
            </a:r>
          </a:p>
          <a:p>
            <a:pPr algn="l">
              <a:buFont typeface="+mj-lt"/>
              <a:buAutoNum type="arabicPeriod"/>
            </a:pPr>
            <a:r>
              <a:rPr lang="es-MX" sz="1600" b="0" i="0" dirty="0">
                <a:solidFill>
                  <a:srgbClr val="374151"/>
                </a:solidFill>
                <a:effectLst/>
                <a:latin typeface="Söhne"/>
              </a:rPr>
              <a:t>Me gustaría explorar la posibilidad de realizar transacciones directamente desde el sitio web, brindando a los visitantes la oportunidad de adquirir productos o servicios de manera fácil y segura.</a:t>
            </a:r>
          </a:p>
        </p:txBody>
      </p:sp>
    </p:spTree>
    <p:extLst>
      <p:ext uri="{BB962C8B-B14F-4D97-AF65-F5344CB8AC3E}">
        <p14:creationId xmlns:p14="http://schemas.microsoft.com/office/powerpoint/2010/main" val="3379646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3E8EF-203B-AE23-CCF7-115CA26B1590}"/>
              </a:ext>
            </a:extLst>
          </p:cNvPr>
          <p:cNvSpPr>
            <a:spLocks noGrp="1"/>
          </p:cNvSpPr>
          <p:nvPr>
            <p:ph type="title"/>
          </p:nvPr>
        </p:nvSpPr>
        <p:spPr>
          <a:xfrm>
            <a:off x="640080" y="325369"/>
            <a:ext cx="4368602" cy="1956841"/>
          </a:xfrm>
        </p:spPr>
        <p:txBody>
          <a:bodyPr anchor="b">
            <a:normAutofit/>
          </a:bodyPr>
          <a:lstStyle/>
          <a:p>
            <a:r>
              <a:rPr lang="es-ES_tradnl" sz="5400" dirty="0"/>
              <a:t>Análisis</a:t>
            </a:r>
          </a:p>
        </p:txBody>
      </p:sp>
      <p:sp>
        <p:nvSpPr>
          <p:cNvPr id="3" name="Content Placeholder 2">
            <a:extLst>
              <a:ext uri="{FF2B5EF4-FFF2-40B4-BE49-F238E27FC236}">
                <a16:creationId xmlns:a16="http://schemas.microsoft.com/office/drawing/2014/main" id="{DABB32DF-1F8F-A24A-35A1-A928E411AAD6}"/>
              </a:ext>
            </a:extLst>
          </p:cNvPr>
          <p:cNvSpPr>
            <a:spLocks noGrp="1"/>
          </p:cNvSpPr>
          <p:nvPr>
            <p:ph idx="1"/>
          </p:nvPr>
        </p:nvSpPr>
        <p:spPr>
          <a:xfrm>
            <a:off x="940526" y="2282210"/>
            <a:ext cx="4368602" cy="3648327"/>
          </a:xfrm>
        </p:spPr>
        <p:txBody>
          <a:bodyPr>
            <a:normAutofit fontScale="92500" lnSpcReduction="20000"/>
          </a:bodyPr>
          <a:lstStyle/>
          <a:p>
            <a:pPr marL="0" indent="0">
              <a:buNone/>
            </a:pPr>
            <a:r>
              <a:rPr lang="es-ES_tradnl" sz="2000" i="1" dirty="0">
                <a:highlight>
                  <a:srgbClr val="FFFF00"/>
                </a:highlight>
              </a:rPr>
              <a:t>“… ¿El cliente no sabe lo que quiere? …”</a:t>
            </a:r>
          </a:p>
          <a:p>
            <a:pPr marL="0" indent="0">
              <a:buNone/>
            </a:pPr>
            <a:r>
              <a:rPr lang="es-ES_tradnl" sz="2000" dirty="0"/>
              <a:t>“.. página web … computadora y en el celular … cartera de los proyectos .. tipos de proyectos .. algo profesional… diseño vaya de acuerdo a la visión.... ”</a:t>
            </a:r>
          </a:p>
          <a:p>
            <a:pPr marL="0" indent="0">
              <a:buNone/>
            </a:pPr>
            <a:r>
              <a:rPr lang="es-ES_tradnl" sz="2000" dirty="0"/>
              <a:t>“.. solo yo pueda modificar … sea interactiva.. </a:t>
            </a:r>
          </a:p>
          <a:p>
            <a:pPr marL="0" indent="0">
              <a:buNone/>
            </a:pPr>
            <a:r>
              <a:rPr lang="es-ES_tradnl" sz="2000" dirty="0"/>
              <a:t>“… una imagen, el nombre del proyecto, un resumen y la fecha.. ”</a:t>
            </a:r>
          </a:p>
          <a:p>
            <a:pPr marL="0" indent="0">
              <a:buNone/>
            </a:pPr>
            <a:r>
              <a:rPr lang="es-ES_tradnl" sz="2000" dirty="0"/>
              <a:t>“… vender…  realizar transacciones.. ”</a:t>
            </a:r>
          </a:p>
        </p:txBody>
      </p:sp>
      <p:pic>
        <p:nvPicPr>
          <p:cNvPr id="5" name="Imagen 4" descr="Interfaz de usuario gráfica&#10;&#10;Descripción generada automáticamente con confianza media">
            <a:extLst>
              <a:ext uri="{FF2B5EF4-FFF2-40B4-BE49-F238E27FC236}">
                <a16:creationId xmlns:a16="http://schemas.microsoft.com/office/drawing/2014/main" id="{1D895565-F7AB-229C-A395-D580BDF12860}"/>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21337" r="16725"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213149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4B9B3-82F6-CEA2-003D-6BA59C1C528E}"/>
              </a:ext>
            </a:extLst>
          </p:cNvPr>
          <p:cNvSpPr>
            <a:spLocks noGrp="1"/>
          </p:cNvSpPr>
          <p:nvPr>
            <p:ph type="title"/>
          </p:nvPr>
        </p:nvSpPr>
        <p:spPr>
          <a:xfrm>
            <a:off x="7129133" y="802955"/>
            <a:ext cx="4266942" cy="1498456"/>
          </a:xfrm>
        </p:spPr>
        <p:txBody>
          <a:bodyPr anchor="b">
            <a:normAutofit/>
          </a:bodyPr>
          <a:lstStyle/>
          <a:p>
            <a:r>
              <a:rPr lang="es-MX" sz="3600" dirty="0">
                <a:solidFill>
                  <a:schemeClr val="tx1"/>
                </a:solidFill>
              </a:rPr>
              <a:t>Análisis</a:t>
            </a:r>
          </a:p>
        </p:txBody>
      </p:sp>
      <p:pic>
        <p:nvPicPr>
          <p:cNvPr id="9" name="Imagen 8" descr="Imagen que contiene colorido, cuarto&#10;&#10;Descripción generada automáticamente">
            <a:extLst>
              <a:ext uri="{FF2B5EF4-FFF2-40B4-BE49-F238E27FC236}">
                <a16:creationId xmlns:a16="http://schemas.microsoft.com/office/drawing/2014/main" id="{D46635B6-B8A1-CBB5-ADE3-5A062D14F9A7}"/>
              </a:ext>
            </a:extLst>
          </p:cNvPr>
          <p:cNvPicPr>
            <a:picLocks noChangeAspect="1"/>
          </p:cNvPicPr>
          <p:nvPr/>
        </p:nvPicPr>
        <p:blipFill rotWithShape="1">
          <a:blip r:embed="rId3">
            <a:alphaModFix/>
            <a:extLst>
              <a:ext uri="{837473B0-CC2E-450A-ABE3-18F120FF3D39}">
                <a1611:picAttrSrcUrl xmlns:a1611="http://schemas.microsoft.com/office/drawing/2016/11/main" r:id="rId4"/>
              </a:ext>
            </a:extLst>
          </a:blip>
          <a:srcRect r="6747" b="-3"/>
          <a:stretch/>
        </p:blipFill>
        <p:spPr>
          <a:xfrm>
            <a:off x="4377345" y="665352"/>
            <a:ext cx="2069967" cy="2069967"/>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pic>
        <p:nvPicPr>
          <p:cNvPr id="1026" name="Picture 2">
            <a:extLst>
              <a:ext uri="{FF2B5EF4-FFF2-40B4-BE49-F238E27FC236}">
                <a16:creationId xmlns:a16="http://schemas.microsoft.com/office/drawing/2014/main" id="{4A587BD7-0CB0-DE14-9C52-42071F1D93BC}"/>
              </a:ext>
            </a:extLst>
          </p:cNvPr>
          <p:cNvPicPr>
            <a:picLocks noChangeAspect="1" noChangeArrowheads="1"/>
          </p:cNvPicPr>
          <p:nvPr/>
        </p:nvPicPr>
        <p:blipFill rotWithShape="1">
          <a:blip r:embed="rId5">
            <a:alphaModFix/>
            <a:extLst>
              <a:ext uri="{28A0092B-C50C-407E-A947-70E740481C1C}">
                <a14:useLocalDpi xmlns:a14="http://schemas.microsoft.com/office/drawing/2010/main" val="0"/>
              </a:ext>
            </a:extLst>
          </a:blip>
          <a:srcRect l="15565" r="14184" b="-1"/>
          <a:stretch/>
        </p:blipFill>
        <p:spPr bwMode="auto">
          <a:xfrm>
            <a:off x="3833078" y="3162261"/>
            <a:ext cx="2588751" cy="2588749"/>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pic>
        <p:nvPicPr>
          <p:cNvPr id="4" name="Imagen 3" descr="Interfaz de usuario gráfica, Sitio web&#10;&#10;Descripción generada automáticamente">
            <a:extLst>
              <a:ext uri="{FF2B5EF4-FFF2-40B4-BE49-F238E27FC236}">
                <a16:creationId xmlns:a16="http://schemas.microsoft.com/office/drawing/2014/main" id="{510CFC6C-D055-38FC-5A75-58EA35531BFC}"/>
              </a:ext>
            </a:extLst>
          </p:cNvPr>
          <p:cNvPicPr>
            <a:picLocks noChangeAspect="1"/>
          </p:cNvPicPr>
          <p:nvPr/>
        </p:nvPicPr>
        <p:blipFill rotWithShape="1">
          <a:blip r:embed="rId6">
            <a:alphaModFix/>
            <a:extLst>
              <a:ext uri="{837473B0-CC2E-450A-ABE3-18F120FF3D39}">
                <a1611:picAttrSrcUrl xmlns:a1611="http://schemas.microsoft.com/office/drawing/2016/11/main" r:id="rId7"/>
              </a:ext>
            </a:extLst>
          </a:blip>
          <a:srcRect l="19644" r="14870" b="-3"/>
          <a:stretch/>
        </p:blipFill>
        <p:spPr>
          <a:xfrm>
            <a:off x="922643" y="802954"/>
            <a:ext cx="3454702" cy="2980737"/>
          </a:xfrm>
          <a:custGeom>
            <a:avLst/>
            <a:gdLst/>
            <a:ahLst/>
            <a:cxnLst/>
            <a:rect l="l" t="t" r="r" b="b"/>
            <a:pathLst>
              <a:path w="4443799" h="3776782">
                <a:moveTo>
                  <a:pt x="0" y="0"/>
                </a:moveTo>
                <a:lnTo>
                  <a:pt x="4164578" y="0"/>
                </a:lnTo>
                <a:lnTo>
                  <a:pt x="4238884" y="154250"/>
                </a:lnTo>
                <a:cubicBezTo>
                  <a:pt x="4370833" y="466214"/>
                  <a:pt x="4443799" y="809200"/>
                  <a:pt x="4443799" y="1169228"/>
                </a:cubicBezTo>
                <a:cubicBezTo>
                  <a:pt x="4443799" y="2609341"/>
                  <a:pt x="3276357" y="3776782"/>
                  <a:pt x="1836244" y="3776782"/>
                </a:cubicBezTo>
                <a:cubicBezTo>
                  <a:pt x="1206195" y="3776782"/>
                  <a:pt x="628337" y="3553326"/>
                  <a:pt x="177598" y="3181344"/>
                </a:cubicBezTo>
                <a:lnTo>
                  <a:pt x="0" y="3019932"/>
                </a:lnTo>
                <a:close/>
              </a:path>
            </a:pathLst>
          </a:custGeom>
          <a:effectLst>
            <a:softEdge rad="0"/>
          </a:effectLst>
        </p:spPr>
      </p:pic>
      <p:pic>
        <p:nvPicPr>
          <p:cNvPr id="6" name="Imagen 5" descr="Imagen que contiene Texto&#10;&#10;Descripción generada automáticamente">
            <a:extLst>
              <a:ext uri="{FF2B5EF4-FFF2-40B4-BE49-F238E27FC236}">
                <a16:creationId xmlns:a16="http://schemas.microsoft.com/office/drawing/2014/main" id="{F6377E91-CA4B-04A9-93D3-1BD84BAA61A6}"/>
              </a:ext>
            </a:extLst>
          </p:cNvPr>
          <p:cNvPicPr>
            <a:picLocks noChangeAspect="1"/>
          </p:cNvPicPr>
          <p:nvPr/>
        </p:nvPicPr>
        <p:blipFill rotWithShape="1">
          <a:blip r:embed="rId8">
            <a:alphaModFix/>
            <a:extLst>
              <a:ext uri="{837473B0-CC2E-450A-ABE3-18F120FF3D39}">
                <a1611:picAttrSrcUrl xmlns:a1611="http://schemas.microsoft.com/office/drawing/2016/11/main" r:id="rId9"/>
              </a:ext>
            </a:extLst>
          </a:blip>
          <a:srcRect l="10141" r="13183" b="4"/>
          <a:stretch/>
        </p:blipFill>
        <p:spPr>
          <a:xfrm>
            <a:off x="1134098" y="3783691"/>
            <a:ext cx="2347135" cy="2012602"/>
          </a:xfrm>
          <a:custGeom>
            <a:avLst/>
            <a:gdLst/>
            <a:ahLst/>
            <a:cxnLst/>
            <a:rect l="l" t="t" r="r" b="b"/>
            <a:pathLst>
              <a:path w="3440586" h="2950205">
                <a:moveTo>
                  <a:pt x="1539166" y="0"/>
                </a:moveTo>
                <a:cubicBezTo>
                  <a:pt x="2589292" y="0"/>
                  <a:pt x="3440586" y="851294"/>
                  <a:pt x="3440586" y="1901419"/>
                </a:cubicBezTo>
                <a:cubicBezTo>
                  <a:pt x="3440586" y="2229583"/>
                  <a:pt x="3357452" y="2538330"/>
                  <a:pt x="3211095" y="2807749"/>
                </a:cubicBezTo>
                <a:lnTo>
                  <a:pt x="3124550" y="2950205"/>
                </a:lnTo>
                <a:lnTo>
                  <a:pt x="0" y="2950205"/>
                </a:lnTo>
                <a:lnTo>
                  <a:pt x="0" y="788141"/>
                </a:lnTo>
                <a:lnTo>
                  <a:pt x="71938" y="691940"/>
                </a:lnTo>
                <a:cubicBezTo>
                  <a:pt x="420687" y="269355"/>
                  <a:pt x="948471" y="0"/>
                  <a:pt x="1539166" y="0"/>
                </a:cubicBezTo>
                <a:close/>
              </a:path>
            </a:pathLst>
          </a:custGeom>
          <a:effectLst>
            <a:softEdge rad="0"/>
          </a:effectLst>
        </p:spPr>
      </p:pic>
      <p:sp>
        <p:nvSpPr>
          <p:cNvPr id="3" name="Marcador de contenido 2">
            <a:extLst>
              <a:ext uri="{FF2B5EF4-FFF2-40B4-BE49-F238E27FC236}">
                <a16:creationId xmlns:a16="http://schemas.microsoft.com/office/drawing/2014/main" id="{BA85FF21-7E7C-233E-8E11-BFD989DCE6F1}"/>
              </a:ext>
            </a:extLst>
          </p:cNvPr>
          <p:cNvSpPr>
            <a:spLocks noGrp="1"/>
          </p:cNvSpPr>
          <p:nvPr>
            <p:ph idx="1"/>
          </p:nvPr>
        </p:nvSpPr>
        <p:spPr>
          <a:xfrm>
            <a:off x="6648995" y="2421682"/>
            <a:ext cx="4747080" cy="4069909"/>
          </a:xfrm>
        </p:spPr>
        <p:txBody>
          <a:bodyPr anchor="ctr">
            <a:normAutofit lnSpcReduction="10000"/>
          </a:bodyPr>
          <a:lstStyle/>
          <a:p>
            <a:r>
              <a:rPr lang="es-MX" sz="2000" i="1" dirty="0">
                <a:solidFill>
                  <a:schemeClr val="tx1"/>
                </a:solidFill>
              </a:rPr>
              <a:t>“Los </a:t>
            </a:r>
            <a:r>
              <a:rPr lang="es-MX" sz="2000" b="1" i="1" dirty="0">
                <a:solidFill>
                  <a:schemeClr val="tx1"/>
                </a:solidFill>
              </a:rPr>
              <a:t>requerimientos</a:t>
            </a:r>
            <a:r>
              <a:rPr lang="es-MX" sz="2000" i="1" dirty="0">
                <a:solidFill>
                  <a:schemeClr val="tx1"/>
                </a:solidFill>
              </a:rPr>
              <a:t> los dice el cliente, las </a:t>
            </a:r>
            <a:r>
              <a:rPr lang="es-MX" sz="2000" b="1" i="1" dirty="0">
                <a:solidFill>
                  <a:schemeClr val="tx1"/>
                </a:solidFill>
              </a:rPr>
              <a:t>expectativas</a:t>
            </a:r>
            <a:r>
              <a:rPr lang="es-MX" sz="2000" i="1" dirty="0">
                <a:solidFill>
                  <a:schemeClr val="tx1"/>
                </a:solidFill>
              </a:rPr>
              <a:t> las pregunta el desarrollador..”</a:t>
            </a:r>
          </a:p>
          <a:p>
            <a:r>
              <a:rPr lang="es-MX" sz="2000" dirty="0">
                <a:solidFill>
                  <a:schemeClr val="tx1"/>
                </a:solidFill>
              </a:rPr>
              <a:t> Entendimiento</a:t>
            </a:r>
          </a:p>
          <a:p>
            <a:pPr lvl="1">
              <a:buFont typeface="Wingdings" panose="05000000000000000000" pitchFamily="2" charset="2"/>
              <a:buChar char="ü"/>
            </a:pPr>
            <a:r>
              <a:rPr lang="es-MX" sz="2000" dirty="0">
                <a:solidFill>
                  <a:schemeClr val="tx1"/>
                </a:solidFill>
              </a:rPr>
              <a:t>Aplicación web</a:t>
            </a:r>
          </a:p>
          <a:p>
            <a:pPr lvl="1">
              <a:buFont typeface="Wingdings" panose="05000000000000000000" pitchFamily="2" charset="2"/>
              <a:buChar char="ü"/>
            </a:pPr>
            <a:r>
              <a:rPr lang="es-MX" sz="2000" dirty="0">
                <a:solidFill>
                  <a:schemeClr val="tx1"/>
                </a:solidFill>
              </a:rPr>
              <a:t>Sitio responsivo</a:t>
            </a:r>
          </a:p>
          <a:p>
            <a:pPr lvl="1">
              <a:buFont typeface="Wingdings" panose="05000000000000000000" pitchFamily="2" charset="2"/>
              <a:buChar char="ü"/>
            </a:pPr>
            <a:r>
              <a:rPr lang="es-MX" sz="2000" i="1" dirty="0">
                <a:solidFill>
                  <a:schemeClr val="tx1"/>
                </a:solidFill>
              </a:rPr>
              <a:t>El diseño </a:t>
            </a:r>
            <a:r>
              <a:rPr lang="es-MX" sz="2000" i="1" dirty="0">
                <a:solidFill>
                  <a:schemeClr val="tx1"/>
                </a:solidFill>
                <a:sym typeface="Wingdings" panose="05000000000000000000" pitchFamily="2" charset="2"/>
              </a:rPr>
              <a:t> Diseñador</a:t>
            </a:r>
          </a:p>
          <a:p>
            <a:pPr lvl="1">
              <a:buFont typeface="Wingdings" panose="05000000000000000000" pitchFamily="2" charset="2"/>
              <a:buChar char="ü"/>
            </a:pPr>
            <a:r>
              <a:rPr lang="es-MX" sz="2000" dirty="0">
                <a:solidFill>
                  <a:schemeClr val="tx1"/>
                </a:solidFill>
                <a:sym typeface="Wingdings" panose="05000000000000000000" pitchFamily="2" charset="2"/>
              </a:rPr>
              <a:t>Esquema de privilegios</a:t>
            </a:r>
            <a:r>
              <a:rPr lang="es-MX" sz="2000" dirty="0">
                <a:solidFill>
                  <a:schemeClr val="tx1"/>
                </a:solidFill>
              </a:rPr>
              <a:t> </a:t>
            </a:r>
          </a:p>
          <a:p>
            <a:pPr lvl="1">
              <a:buFont typeface="Wingdings" panose="05000000000000000000" pitchFamily="2" charset="2"/>
              <a:buChar char="ü"/>
            </a:pPr>
            <a:r>
              <a:rPr lang="es-MX" sz="2000" dirty="0">
                <a:solidFill>
                  <a:schemeClr val="tx1"/>
                </a:solidFill>
              </a:rPr>
              <a:t>Seguridad</a:t>
            </a:r>
          </a:p>
          <a:p>
            <a:pPr lvl="1">
              <a:buFont typeface="Wingdings" panose="05000000000000000000" pitchFamily="2" charset="2"/>
              <a:buChar char="ü"/>
            </a:pPr>
            <a:r>
              <a:rPr lang="es-MX" sz="2000" dirty="0">
                <a:solidFill>
                  <a:schemeClr val="tx1"/>
                </a:solidFill>
              </a:rPr>
              <a:t>Hosting</a:t>
            </a:r>
          </a:p>
          <a:p>
            <a:pPr lvl="1">
              <a:buFont typeface="Wingdings" panose="05000000000000000000" pitchFamily="2" charset="2"/>
              <a:buChar char="ü"/>
            </a:pPr>
            <a:r>
              <a:rPr lang="es-MX" sz="2000" dirty="0">
                <a:solidFill>
                  <a:schemeClr val="tx1"/>
                </a:solidFill>
              </a:rPr>
              <a:t>Carrito de compras</a:t>
            </a:r>
          </a:p>
          <a:p>
            <a:pPr lvl="1">
              <a:buFont typeface="Wingdings" panose="05000000000000000000" pitchFamily="2" charset="2"/>
              <a:buChar char="ü"/>
            </a:pPr>
            <a:r>
              <a:rPr lang="es-MX" sz="2000" dirty="0">
                <a:solidFill>
                  <a:schemeClr val="tx1"/>
                </a:solidFill>
              </a:rPr>
              <a:t>… </a:t>
            </a:r>
          </a:p>
        </p:txBody>
      </p:sp>
    </p:spTree>
    <p:extLst>
      <p:ext uri="{BB962C8B-B14F-4D97-AF65-F5344CB8AC3E}">
        <p14:creationId xmlns:p14="http://schemas.microsoft.com/office/powerpoint/2010/main" val="340238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1B427F-8F10-4DF3-43E8-74C72E68DDC2}"/>
              </a:ext>
            </a:extLst>
          </p:cNvPr>
          <p:cNvSpPr>
            <a:spLocks noGrp="1"/>
          </p:cNvSpPr>
          <p:nvPr>
            <p:ph type="title"/>
          </p:nvPr>
        </p:nvSpPr>
        <p:spPr>
          <a:xfrm>
            <a:off x="838200" y="609600"/>
            <a:ext cx="3739341" cy="1330839"/>
          </a:xfrm>
        </p:spPr>
        <p:txBody>
          <a:bodyPr>
            <a:normAutofit/>
          </a:bodyPr>
          <a:lstStyle/>
          <a:p>
            <a:r>
              <a:rPr lang="es-MX" dirty="0"/>
              <a:t>Práctica</a:t>
            </a:r>
          </a:p>
        </p:txBody>
      </p:sp>
      <p:sp>
        <p:nvSpPr>
          <p:cNvPr id="3" name="Marcador de contenido 2">
            <a:extLst>
              <a:ext uri="{FF2B5EF4-FFF2-40B4-BE49-F238E27FC236}">
                <a16:creationId xmlns:a16="http://schemas.microsoft.com/office/drawing/2014/main" id="{794FA59F-4E3A-D464-BE09-257D15608FF8}"/>
              </a:ext>
            </a:extLst>
          </p:cNvPr>
          <p:cNvSpPr>
            <a:spLocks noGrp="1"/>
          </p:cNvSpPr>
          <p:nvPr>
            <p:ph idx="1"/>
          </p:nvPr>
        </p:nvSpPr>
        <p:spPr>
          <a:xfrm>
            <a:off x="838200" y="1645461"/>
            <a:ext cx="5257800" cy="4459617"/>
          </a:xfrm>
        </p:spPr>
        <p:txBody>
          <a:bodyPr>
            <a:normAutofit/>
          </a:bodyPr>
          <a:lstStyle/>
          <a:p>
            <a:r>
              <a:rPr lang="es-MX" sz="2400" dirty="0"/>
              <a:t>Crear una aplicación para la administración y visualización de proyectos. </a:t>
            </a:r>
          </a:p>
          <a:p>
            <a:r>
              <a:rPr lang="es-MX" sz="2400" dirty="0"/>
              <a:t>REQ. Un proyecto consta de:</a:t>
            </a:r>
          </a:p>
          <a:p>
            <a:pPr lvl="1"/>
            <a:r>
              <a:rPr lang="es-MX" dirty="0"/>
              <a:t>Nombre</a:t>
            </a:r>
          </a:p>
          <a:p>
            <a:pPr lvl="1"/>
            <a:r>
              <a:rPr lang="es-MX" dirty="0"/>
              <a:t>Descripción</a:t>
            </a:r>
          </a:p>
          <a:p>
            <a:pPr lvl="1"/>
            <a:r>
              <a:rPr lang="es-MX" dirty="0"/>
              <a:t>Tipo de proyecto</a:t>
            </a:r>
          </a:p>
          <a:p>
            <a:pPr lvl="1"/>
            <a:r>
              <a:rPr lang="es-MX" dirty="0"/>
              <a:t>Imagen</a:t>
            </a:r>
          </a:p>
          <a:p>
            <a:pPr lvl="1"/>
            <a:r>
              <a:rPr lang="es-MX" dirty="0"/>
              <a:t>Fecha de elaboración</a:t>
            </a:r>
          </a:p>
        </p:txBody>
      </p:sp>
      <p:pic>
        <p:nvPicPr>
          <p:cNvPr id="11" name="Imagen 10" descr="Logotipo, nombre de la empresa&#10;&#10;Descripción generada automáticamente">
            <a:extLst>
              <a:ext uri="{FF2B5EF4-FFF2-40B4-BE49-F238E27FC236}">
                <a16:creationId xmlns:a16="http://schemas.microsoft.com/office/drawing/2014/main" id="{3CE07717-5C05-5F40-8AB9-0A973B0186A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492663" y="1940439"/>
            <a:ext cx="4861137" cy="3026057"/>
          </a:xfrm>
          <a:prstGeom prst="rect">
            <a:avLst/>
          </a:prstGeom>
        </p:spPr>
      </p:pic>
    </p:spTree>
    <p:extLst>
      <p:ext uri="{BB962C8B-B14F-4D97-AF65-F5344CB8AC3E}">
        <p14:creationId xmlns:p14="http://schemas.microsoft.com/office/powerpoint/2010/main" val="3842198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exto&#10;&#10;Descripción generada automáticamente">
            <a:extLst>
              <a:ext uri="{FF2B5EF4-FFF2-40B4-BE49-F238E27FC236}">
                <a16:creationId xmlns:a16="http://schemas.microsoft.com/office/drawing/2014/main" id="{70423DFA-BE9D-3C06-1989-A0D943A3CD0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901337" y="516727"/>
            <a:ext cx="10189028" cy="5824545"/>
          </a:xfrm>
          <a:prstGeom prst="rect">
            <a:avLst/>
          </a:prstGeom>
        </p:spPr>
      </p:pic>
    </p:spTree>
    <p:extLst>
      <p:ext uri="{BB962C8B-B14F-4D97-AF65-F5344CB8AC3E}">
        <p14:creationId xmlns:p14="http://schemas.microsoft.com/office/powerpoint/2010/main" val="909761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8"/>
        <p:cNvGrpSpPr/>
        <p:nvPr/>
      </p:nvGrpSpPr>
      <p:grpSpPr>
        <a:xfrm>
          <a:off x="0" y="0"/>
          <a:ext cx="0" cy="0"/>
          <a:chOff x="0" y="0"/>
          <a:chExt cx="0" cy="0"/>
        </a:xfrm>
      </p:grpSpPr>
      <p:sp>
        <p:nvSpPr>
          <p:cNvPr id="129" name="Google Shape;129;p6"/>
          <p:cNvSpPr/>
          <p:nvPr/>
        </p:nvSpPr>
        <p:spPr>
          <a:xfrm>
            <a:off x="8947398" y="6115688"/>
            <a:ext cx="246574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600" b="1" i="0" u="none" strike="noStrike" cap="none">
                <a:solidFill>
                  <a:schemeClr val="lt1"/>
                </a:solidFill>
                <a:latin typeface="Verdana"/>
                <a:ea typeface="Verdana"/>
                <a:cs typeface="Verdana"/>
                <a:sym typeface="Verdana"/>
              </a:rPr>
              <a:t>merida.anahuac.mx</a:t>
            </a:r>
            <a:endParaRPr/>
          </a:p>
        </p:txBody>
      </p:sp>
      <p:pic>
        <p:nvPicPr>
          <p:cNvPr id="130" name="Google Shape;130;p6"/>
          <p:cNvPicPr preferRelativeResize="0"/>
          <p:nvPr/>
        </p:nvPicPr>
        <p:blipFill rotWithShape="1">
          <a:blip r:embed="rId4">
            <a:alphaModFix/>
          </a:blip>
          <a:srcRect/>
          <a:stretch/>
        </p:blipFill>
        <p:spPr>
          <a:xfrm>
            <a:off x="387843" y="6115688"/>
            <a:ext cx="716940" cy="338555"/>
          </a:xfrm>
          <a:prstGeom prst="rect">
            <a:avLst/>
          </a:prstGeom>
          <a:noFill/>
          <a:ln>
            <a:noFill/>
          </a:ln>
        </p:spPr>
      </p:pic>
      <p:sp>
        <p:nvSpPr>
          <p:cNvPr id="131" name="Google Shape;131;p6"/>
          <p:cNvSpPr/>
          <p:nvPr/>
        </p:nvSpPr>
        <p:spPr>
          <a:xfrm>
            <a:off x="1104783" y="6115688"/>
            <a:ext cx="3088282"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600" b="0" i="0" u="none" strike="noStrike" cap="none">
                <a:solidFill>
                  <a:schemeClr val="lt1"/>
                </a:solidFill>
                <a:latin typeface="Verdana"/>
                <a:ea typeface="Verdana"/>
                <a:cs typeface="Verdana"/>
                <a:sym typeface="Verdana"/>
              </a:rPr>
              <a:t>Universidad Anáhuac Mayab</a:t>
            </a:r>
            <a:endParaRP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isl xmlns:xsd="http://www.w3.org/2001/XMLSchema" xmlns:xsi="http://www.w3.org/2001/XMLSchema-instance" xmlns="http://www.boldonjames.com/2008/01/sie/internal/label" sislVersion="0" policy="2c673f97-f704-441a-a1be-26277c273d44" origin="userSelected">
  <element uid="26942484-e33a-4b77-b4f5-82dd3c942130" value=""/>
</sisl>
</file>

<file path=customXml/itemProps1.xml><?xml version="1.0" encoding="utf-8"?>
<ds:datastoreItem xmlns:ds="http://schemas.openxmlformats.org/officeDocument/2006/customXml" ds:itemID="{77C03CFB-38CB-4D8B-ADBA-E48B46A65F82}">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otalTime>23</TotalTime>
  <Words>684</Words>
  <Application>Microsoft Office PowerPoint</Application>
  <PresentationFormat>Panorámica</PresentationFormat>
  <Paragraphs>94</Paragraphs>
  <Slides>12</Slides>
  <Notes>12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Arial</vt:lpstr>
      <vt:lpstr>Calibri</vt:lpstr>
      <vt:lpstr>Rockwell</vt:lpstr>
      <vt:lpstr>Söhne</vt:lpstr>
      <vt:lpstr>Verdana</vt:lpstr>
      <vt:lpstr>Wingdings</vt:lpstr>
      <vt:lpstr>Tema de Office</vt:lpstr>
      <vt:lpstr>Master Class</vt:lpstr>
      <vt:lpstr>Presentación</vt:lpstr>
      <vt:lpstr>Agenda</vt:lpstr>
      <vt:lpstr>¿Por qué “Python”?   Popular</vt:lpstr>
      <vt:lpstr>¿Por qué Django?</vt:lpstr>
      <vt:lpstr>Modelo – Vista - Template</vt:lpstr>
      <vt:lpstr>Historias de usuario</vt:lpstr>
      <vt:lpstr>Análisis</vt:lpstr>
      <vt:lpstr>Análisis</vt:lpstr>
      <vt:lpstr>Práctica</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Ortega Rios Covian Roberto Antonio</dc:creator>
  <cp:keywords>NO Significativa</cp:keywords>
  <cp:lastModifiedBy>Francisco Javier</cp:lastModifiedBy>
  <cp:revision>3</cp:revision>
  <dcterms:created xsi:type="dcterms:W3CDTF">2020-03-09T15:54:05Z</dcterms:created>
  <dcterms:modified xsi:type="dcterms:W3CDTF">2026-01-19T14:31:27Z</dcterms:modified>
  <cp:category>NO Significativa</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c7d04a62-8d30-43fb-b670-f17c1faede96</vt:lpwstr>
  </property>
  <property fmtid="{D5CDD505-2E9C-101B-9397-08002B2CF9AE}" pid="3" name="bjClsUserRVM">
    <vt:lpwstr>[]</vt:lpwstr>
  </property>
  <property fmtid="{D5CDD505-2E9C-101B-9397-08002B2CF9AE}" pid="4" name="bjSaver">
    <vt:lpwstr>mAymV4LzfAGcIsL83OZVxFjownz8QRRK</vt:lpwstr>
  </property>
  <property fmtid="{D5CDD505-2E9C-101B-9397-08002B2CF9AE}" pid="5" name="bjDocumentLabelXML">
    <vt:lpwstr>&lt;?xml version="1.0" encoding="us-ascii"?&gt;&lt;sisl xmlns:xsd="http://www.w3.org/2001/XMLSchema" xmlns:xsi="http://www.w3.org/2001/XMLSchema-instance" sislVersion="0" policy="2c673f97-f704-441a-a1be-26277c273d44" origin="userSelected" xmlns="http://www.boldonj</vt:lpwstr>
  </property>
  <property fmtid="{D5CDD505-2E9C-101B-9397-08002B2CF9AE}" pid="6" name="bjDocumentLabelXML-0">
    <vt:lpwstr>ames.com/2008/01/sie/internal/label"&gt;&lt;element uid="26942484-e33a-4b77-b4f5-82dd3c942130" value="" /&gt;&lt;/sisl&gt;</vt:lpwstr>
  </property>
  <property fmtid="{D5CDD505-2E9C-101B-9397-08002B2CF9AE}" pid="7" name="X-Metadata 2">
    <vt:lpwstr>9c37f|||f14cf7a0-dd03-4cad-81e7-af3095354730</vt:lpwstr>
  </property>
  <property fmtid="{D5CDD505-2E9C-101B-9397-08002B2CF9AE}" pid="8" name="bjpmDocIH">
    <vt:lpwstr>t5BRYqifaI/BDzRXblMU+VXVNCIboZUh</vt:lpwstr>
  </property>
  <property fmtid="{D5CDD505-2E9C-101B-9397-08002B2CF9AE}" pid="9" name="X-Metadata 1">
    <vt:lpwstr>001: D10303 - 002: 170.70.58.35 - 003: 19/01/2026 08:31:27 a. m.</vt:lpwstr>
  </property>
</Properties>
</file>